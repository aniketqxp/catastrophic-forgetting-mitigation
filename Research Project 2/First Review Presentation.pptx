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9"/>
  </p:notesMasterIdLst>
  <p:sldIdLst>
    <p:sldId id="256" r:id="rId3"/>
    <p:sldId id="257" r:id="rId4"/>
    <p:sldId id="258" r:id="rId5"/>
    <p:sldId id="259" r:id="rId6"/>
    <p:sldId id="269" r:id="rId7"/>
    <p:sldId id="266" r:id="rId8"/>
    <p:sldId id="267" r:id="rId9"/>
    <p:sldId id="261" r:id="rId10"/>
    <p:sldId id="271" r:id="rId11"/>
    <p:sldId id="270" r:id="rId12"/>
    <p:sldId id="272" r:id="rId13"/>
    <p:sldId id="273" r:id="rId14"/>
    <p:sldId id="274" r:id="rId15"/>
    <p:sldId id="263" r:id="rId16"/>
    <p:sldId id="264" r:id="rId17"/>
    <p:sldId id="265" r:id="rId18"/>
  </p:sldIdLst>
  <p:sldSz cx="12192000" cy="6858000"/>
  <p:notesSz cx="6858000" cy="9144000"/>
  <p:embeddedFontLst>
    <p:embeddedFont>
      <p:font typeface="Arial Narrow" panose="020B0606020202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jgpA3tYX7ecFgO0nqVv4n2HMa+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657" autoAdjust="0"/>
  </p:normalViewPr>
  <p:slideViewPr>
    <p:cSldViewPr snapToGrid="0">
      <p:cViewPr varScale="1">
        <p:scale>
          <a:sx n="72" d="100"/>
          <a:sy n="72" d="100"/>
        </p:scale>
        <p:origin x="10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There are more techniques like meta-learning, domain adaption which are also useful for certain scenarios but I will be focusing on more primitive techniques for the scope of this project</a:t>
            </a:r>
            <a:endParaRPr dirty="0"/>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Stability: retain knowledge from past tasks</a:t>
            </a:r>
          </a:p>
          <a:p>
            <a:pPr marL="0" lvl="0" indent="0" algn="l" rtl="0">
              <a:spcBef>
                <a:spcPts val="0"/>
              </a:spcBef>
              <a:spcAft>
                <a:spcPts val="0"/>
              </a:spcAft>
              <a:buNone/>
            </a:pPr>
            <a:r>
              <a:rPr lang="en-US" dirty="0"/>
              <a:t>Plasticity: learn new tasks effectively</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Incremental Learning</a:t>
            </a:r>
          </a:p>
          <a:p>
            <a:pPr marL="0" lvl="0" indent="0" algn="l" rtl="0">
              <a:spcBef>
                <a:spcPts val="0"/>
              </a:spcBef>
              <a:spcAft>
                <a:spcPts val="0"/>
              </a:spcAft>
              <a:buNone/>
            </a:pPr>
            <a:r>
              <a:rPr lang="en-US" b="1" dirty="0"/>
              <a:t>Task-IL</a:t>
            </a:r>
            <a:r>
              <a:rPr lang="en-US" dirty="0"/>
              <a:t>: The model is </a:t>
            </a:r>
            <a:r>
              <a:rPr lang="en-US" b="1" dirty="0"/>
              <a:t>explicitly given task identity</a:t>
            </a:r>
            <a:r>
              <a:rPr lang="en-US" dirty="0"/>
              <a:t> and only classifies </a:t>
            </a:r>
            <a:r>
              <a:rPr lang="en-US" b="1" dirty="0"/>
              <a:t>among the classes for that specific task</a:t>
            </a:r>
            <a:r>
              <a:rPr lang="en-US" dirty="0"/>
              <a:t>. Each task is treated independently.</a:t>
            </a:r>
          </a:p>
          <a:p>
            <a:pPr marL="0" lvl="0" indent="0" algn="l" rtl="0">
              <a:spcBef>
                <a:spcPts val="0"/>
              </a:spcBef>
              <a:spcAft>
                <a:spcPts val="0"/>
              </a:spcAft>
              <a:buNone/>
            </a:pPr>
            <a:r>
              <a:rPr lang="en-US" b="1" dirty="0"/>
              <a:t>Domain-IL</a:t>
            </a:r>
            <a:r>
              <a:rPr lang="en-US" dirty="0"/>
              <a:t>: The model is </a:t>
            </a:r>
            <a:r>
              <a:rPr lang="en-US" b="1" dirty="0"/>
              <a:t>not given task identity</a:t>
            </a:r>
            <a:r>
              <a:rPr lang="en-US" dirty="0"/>
              <a:t> and must classify </a:t>
            </a:r>
            <a:r>
              <a:rPr lang="en-US" b="1" dirty="0"/>
              <a:t>from all possible classes</a:t>
            </a:r>
            <a:r>
              <a:rPr lang="en-US" dirty="0"/>
              <a:t> in each task. However, tasks </a:t>
            </a:r>
            <a:r>
              <a:rPr lang="en-US" b="1" dirty="0"/>
              <a:t>share the same label space</a:t>
            </a:r>
            <a:r>
              <a:rPr lang="en-US" dirty="0"/>
              <a:t>, differing only in input characteristics (e.g., rotation, noise, color, etc.).</a:t>
            </a:r>
          </a:p>
          <a:p>
            <a:pPr marL="0" lvl="0" indent="0" algn="l" rtl="0">
              <a:spcBef>
                <a:spcPts val="0"/>
              </a:spcBef>
              <a:spcAft>
                <a:spcPts val="0"/>
              </a:spcAft>
              <a:buNone/>
            </a:pPr>
            <a:r>
              <a:rPr lang="en-US" b="1" dirty="0"/>
              <a:t>Class-IL</a:t>
            </a:r>
            <a:r>
              <a:rPr lang="en-US" dirty="0"/>
              <a:t>: The model is </a:t>
            </a:r>
            <a:r>
              <a:rPr lang="en-US" b="1" dirty="0"/>
              <a:t>not given task identity</a:t>
            </a:r>
            <a:r>
              <a:rPr lang="en-US" dirty="0"/>
              <a:t> and must classify </a:t>
            </a:r>
            <a:r>
              <a:rPr lang="en-US" b="1" dirty="0"/>
              <a:t>from all classes seen up to that point</a:t>
            </a:r>
            <a:r>
              <a:rPr lang="en-US" dirty="0"/>
              <a:t> in a single unified output layer. Each task introduces new classes, and the model must integrate them into a growing classifier.</a:t>
            </a: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0B6A9C6-8283-24FE-435E-132F7EAD96C1}"/>
            </a:ext>
          </a:extLst>
        </p:cNvPr>
        <p:cNvGrpSpPr/>
        <p:nvPr/>
      </p:nvGrpSpPr>
      <p:grpSpPr>
        <a:xfrm>
          <a:off x="0" y="0"/>
          <a:ext cx="0" cy="0"/>
          <a:chOff x="0" y="0"/>
          <a:chExt cx="0" cy="0"/>
        </a:xfrm>
      </p:grpSpPr>
      <p:sp>
        <p:nvSpPr>
          <p:cNvPr id="112" name="Google Shape;112;p4:notes">
            <a:extLst>
              <a:ext uri="{FF2B5EF4-FFF2-40B4-BE49-F238E27FC236}">
                <a16:creationId xmlns:a16="http://schemas.microsoft.com/office/drawing/2014/main" id="{CA553F9E-C536-3474-6779-15C3D92135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Elastic Weight Consolidation, Synaptic Intelligence</a:t>
            </a:r>
          </a:p>
          <a:p>
            <a:pPr marL="0" lvl="0" indent="0" algn="l" rtl="0">
              <a:spcBef>
                <a:spcPts val="0"/>
              </a:spcBef>
              <a:spcAft>
                <a:spcPts val="0"/>
              </a:spcAft>
              <a:buNone/>
            </a:pPr>
            <a:r>
              <a:rPr lang="en-US" b="1" dirty="0"/>
              <a:t>Regularization</a:t>
            </a:r>
            <a:r>
              <a:rPr lang="en-US" dirty="0"/>
              <a:t> → Prevents catastrophic forgetting by </a:t>
            </a:r>
            <a:r>
              <a:rPr lang="en-US" b="1" dirty="0"/>
              <a:t>penalizing changes to important weights</a:t>
            </a:r>
            <a:r>
              <a:rPr lang="en-US" dirty="0"/>
              <a:t>, ensuring past knowledge is preserved.</a:t>
            </a:r>
          </a:p>
          <a:p>
            <a:pPr marL="0" lvl="0" indent="0" algn="l" rtl="0">
              <a:spcBef>
                <a:spcPts val="0"/>
              </a:spcBef>
              <a:spcAft>
                <a:spcPts val="0"/>
              </a:spcAft>
              <a:buNone/>
            </a:pPr>
            <a:r>
              <a:rPr lang="en-US" b="1" dirty="0"/>
              <a:t>Replay</a:t>
            </a:r>
            <a:r>
              <a:rPr lang="en-US" dirty="0"/>
              <a:t> → Stores or generates past data and </a:t>
            </a:r>
            <a:r>
              <a:rPr lang="en-US" b="1" dirty="0"/>
              <a:t>reintroduces it during training</a:t>
            </a:r>
            <a:r>
              <a:rPr lang="en-US" dirty="0"/>
              <a:t>, helping the model retain knowledge of previous tasks.</a:t>
            </a:r>
          </a:p>
          <a:p>
            <a:pPr marL="0" lvl="0" indent="0" algn="l" rtl="0">
              <a:spcBef>
                <a:spcPts val="0"/>
              </a:spcBef>
              <a:spcAft>
                <a:spcPts val="0"/>
              </a:spcAft>
              <a:buNone/>
            </a:pPr>
            <a:r>
              <a:rPr lang="en-US" b="1" dirty="0"/>
              <a:t>Architectural</a:t>
            </a:r>
            <a:r>
              <a:rPr lang="en-US" dirty="0"/>
              <a:t> → Modifies the network structure </a:t>
            </a:r>
            <a:r>
              <a:rPr lang="en-US" b="1" dirty="0"/>
              <a:t>to allocate separate resources for new tasks</a:t>
            </a:r>
            <a:r>
              <a:rPr lang="en-US" dirty="0"/>
              <a:t>, preventing interference with old knowledge.</a:t>
            </a:r>
          </a:p>
        </p:txBody>
      </p:sp>
      <p:sp>
        <p:nvSpPr>
          <p:cNvPr id="113" name="Google Shape;113;p4:notes">
            <a:extLst>
              <a:ext uri="{FF2B5EF4-FFF2-40B4-BE49-F238E27FC236}">
                <a16:creationId xmlns:a16="http://schemas.microsoft.com/office/drawing/2014/main" id="{56566C84-9A60-675A-0069-FBE1F1E31E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252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Forgetting analysis using vanilla </a:t>
            </a:r>
            <a:r>
              <a:rPr lang="en-US" dirty="0" err="1"/>
              <a:t>sgd</a:t>
            </a:r>
            <a:r>
              <a:rPr lang="en-US" dirty="0"/>
              <a:t>, performance over time task-IL</a:t>
            </a:r>
          </a:p>
          <a:p>
            <a:pPr marL="0" lvl="0" indent="0" algn="l" rtl="0">
              <a:spcBef>
                <a:spcPts val="0"/>
              </a:spcBef>
              <a:spcAft>
                <a:spcPts val="0"/>
              </a:spcAft>
              <a:buNone/>
            </a:pPr>
            <a:r>
              <a:rPr lang="en-US" dirty="0"/>
              <a:t>Train models using methods on the two scenarios task il and class il</a:t>
            </a: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A608D96-CB27-DA70-6FE3-C211A939CF64}"/>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162F45F6-7D38-B3B7-CF11-3346C981CE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Task-IL</a:t>
            </a:r>
            <a:endParaRPr dirty="0"/>
          </a:p>
        </p:txBody>
      </p:sp>
      <p:sp>
        <p:nvSpPr>
          <p:cNvPr id="137" name="Google Shape;137;p7:notes">
            <a:extLst>
              <a:ext uri="{FF2B5EF4-FFF2-40B4-BE49-F238E27FC236}">
                <a16:creationId xmlns:a16="http://schemas.microsoft.com/office/drawing/2014/main" id="{66433161-117D-00B2-746D-40CCE09C88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6655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1FA4BAB1-E4AA-0ABF-323D-A23EFC4A2B63}"/>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72AB8FE8-73DE-9BE6-2165-FA985038AEB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824CCB09-D6A4-3FC3-71CA-120E75668D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1284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9A1010AD-A63B-F5CA-BD60-F95D7946C9CC}"/>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CBE5348A-6908-FC1C-5046-B4CFE39B8F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E77647E3-EC75-0A8F-8C6A-6C43157A32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58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3D75CAA9-7F2A-3F67-472D-DBCF099BC8FB}"/>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3FBA6F39-65AB-5811-B797-9A52039854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AD60ACB7-5C7D-95F6-A7D8-4581291454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670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B2981059-140C-763D-B49F-1891EEC0F704}"/>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7D75BD57-0C6C-4853-2329-6573601912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87C887DD-6A72-7D0A-9B75-BDE73EFA1F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8822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Stochastic Gradient Descent</a:t>
            </a:r>
            <a:endParaRPr dirty="0"/>
          </a:p>
        </p:txBody>
      </p:sp>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19-03-2025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917924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19-03-2025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881651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19-03-2025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634958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19-03-2025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7852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19-03-2025</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35309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19-03-2025</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84842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19-03-2025</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596782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19-03-2025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906253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19-03-2025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758044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19-03-2025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0056552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19-03-2025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5806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19-03-2025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148869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1109/TPAMI.2021.3057446" TargetMode="External"/><Relationship Id="rId13" Type="http://schemas.openxmlformats.org/officeDocument/2006/relationships/hyperlink" Target="https://arxiv.org/abs/1912.01238" TargetMode="External"/><Relationship Id="rId3" Type="http://schemas.openxmlformats.org/officeDocument/2006/relationships/hyperlink" Target="https://doi.org/10.48550/arXiv.1904.07734" TargetMode="External"/><Relationship Id="rId7" Type="http://schemas.openxmlformats.org/officeDocument/2006/relationships/hyperlink" Target="https://ieeexplore.ieee.org/document/10444954" TargetMode="External"/><Relationship Id="rId12" Type="http://schemas.openxmlformats.org/officeDocument/2006/relationships/hyperlink" Target="https://doi.org/10.48550/arXiv.1912.01238"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doi.org/10.1109/TPAMI.2024.3367329" TargetMode="External"/><Relationship Id="rId11" Type="http://schemas.openxmlformats.org/officeDocument/2006/relationships/hyperlink" Target="https://www.thelancet.com/journals/landig/article/PIIS2589-7500(20)30102-3/fulltext" TargetMode="External"/><Relationship Id="rId5" Type="http://schemas.openxmlformats.org/officeDocument/2006/relationships/hyperlink" Target="https://www.google.com/search?q=https://doi.org/10.1109/TPAMI.2024.3367329" TargetMode="External"/><Relationship Id="rId10" Type="http://schemas.openxmlformats.org/officeDocument/2006/relationships/hyperlink" Target="https://doi.org/10.1016/S2589-7500(20)30102-3" TargetMode="External"/><Relationship Id="rId4" Type="http://schemas.openxmlformats.org/officeDocument/2006/relationships/hyperlink" Target="https://arxiv.org/abs/1904.07734" TargetMode="External"/><Relationship Id="rId9" Type="http://schemas.openxmlformats.org/officeDocument/2006/relationships/hyperlink" Target="https://ieeexplore.ieee.org/abstract/document/934919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90" name="Google Shape;90;p1"/>
          <p:cNvPicPr preferRelativeResize="0"/>
          <p:nvPr/>
        </p:nvPicPr>
        <p:blipFill rotWithShape="1">
          <a:blip r:embed="rId3">
            <a:alphaModFix/>
          </a:blip>
          <a:srcRect/>
          <a:stretch/>
        </p:blipFill>
        <p:spPr>
          <a:xfrm>
            <a:off x="2285468" y="0"/>
            <a:ext cx="7621064" cy="1695687"/>
          </a:xfrm>
          <a:prstGeom prst="rect">
            <a:avLst/>
          </a:prstGeom>
          <a:noFill/>
          <a:ln>
            <a:noFill/>
          </a:ln>
        </p:spPr>
      </p:pic>
      <p:sp>
        <p:nvSpPr>
          <p:cNvPr id="91" name="Google Shape;91;p1"/>
          <p:cNvSpPr/>
          <p:nvPr/>
        </p:nvSpPr>
        <p:spPr>
          <a:xfrm>
            <a:off x="4227227" y="1816676"/>
            <a:ext cx="3507698" cy="5846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a:solidFill>
                  <a:schemeClr val="dk1"/>
                </a:solidFill>
                <a:latin typeface="Arial Narrow"/>
                <a:ea typeface="Arial Narrow"/>
                <a:cs typeface="Arial Narrow"/>
                <a:sym typeface="Arial Narrow"/>
              </a:rPr>
              <a:t>First Review</a:t>
            </a:r>
            <a:endParaRPr sz="3200" b="1" i="0" u="none" strike="noStrike" cap="none">
              <a:solidFill>
                <a:schemeClr val="dk1"/>
              </a:solidFill>
              <a:latin typeface="Arial Narrow"/>
              <a:ea typeface="Arial Narrow"/>
              <a:cs typeface="Arial Narrow"/>
              <a:sym typeface="Arial Narrow"/>
            </a:endParaRPr>
          </a:p>
        </p:txBody>
      </p:sp>
      <p:sp>
        <p:nvSpPr>
          <p:cNvPr id="92" name="Google Shape;92;p1"/>
          <p:cNvSpPr/>
          <p:nvPr/>
        </p:nvSpPr>
        <p:spPr>
          <a:xfrm>
            <a:off x="239843" y="4781862"/>
            <a:ext cx="4916773" cy="1795073"/>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none" strike="noStrike" cap="none" dirty="0">
                <a:solidFill>
                  <a:schemeClr val="dk1"/>
                </a:solidFill>
                <a:latin typeface="Arial Narrow"/>
                <a:ea typeface="Arial Narrow"/>
                <a:cs typeface="Arial Narrow"/>
                <a:sym typeface="Arial Narrow"/>
              </a:rPr>
              <a:t>Course Code: </a:t>
            </a:r>
            <a:r>
              <a:rPr lang="en-US" sz="1800" b="0" i="0" u="none" strike="noStrike" cap="none" dirty="0">
                <a:solidFill>
                  <a:schemeClr val="dk1"/>
                </a:solidFill>
                <a:latin typeface="Arial Narrow"/>
                <a:ea typeface="Arial Narrow"/>
                <a:cs typeface="Arial Narrow"/>
                <a:sym typeface="Arial Narrow"/>
              </a:rPr>
              <a:t>CS7510</a:t>
            </a:r>
            <a:endParaRPr dirty="0"/>
          </a:p>
          <a:p>
            <a:pPr marL="0" marR="0" lvl="0" indent="0" algn="l" rtl="0">
              <a:spcBef>
                <a:spcPts val="0"/>
              </a:spcBef>
              <a:spcAft>
                <a:spcPts val="0"/>
              </a:spcAft>
              <a:buNone/>
            </a:pPr>
            <a:r>
              <a:rPr lang="en-US" sz="1800" b="1" dirty="0">
                <a:solidFill>
                  <a:schemeClr val="dk1"/>
                </a:solidFill>
                <a:latin typeface="Arial Narrow"/>
                <a:ea typeface="Arial Narrow"/>
                <a:cs typeface="Arial Narrow"/>
                <a:sym typeface="Arial Narrow"/>
              </a:rPr>
              <a:t>Course Title:  </a:t>
            </a:r>
            <a:r>
              <a:rPr lang="en-US" sz="1800" dirty="0">
                <a:solidFill>
                  <a:schemeClr val="dk1"/>
                </a:solidFill>
                <a:latin typeface="Arial Narrow"/>
                <a:ea typeface="Arial Narrow"/>
                <a:cs typeface="Arial Narrow"/>
                <a:sym typeface="Arial Narrow"/>
              </a:rPr>
              <a:t>Project 2</a:t>
            </a:r>
          </a:p>
        </p:txBody>
      </p:sp>
      <p:sp>
        <p:nvSpPr>
          <p:cNvPr id="93" name="Google Shape;9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dirty="0">
                <a:latin typeface="Arial Narrow"/>
                <a:ea typeface="Arial Narrow"/>
                <a:cs typeface="Arial Narrow"/>
                <a:sym typeface="Arial Narrow"/>
              </a:rPr>
              <a:t>CS7501 Project I , PGP, ICER, VIT Bangalore</a:t>
            </a:r>
            <a:endParaRPr b="1" dirty="0">
              <a:latin typeface="Arial Narrow"/>
              <a:ea typeface="Arial Narrow"/>
              <a:cs typeface="Arial Narrow"/>
              <a:sym typeface="Arial Narrow"/>
            </a:endParaRPr>
          </a:p>
        </p:txBody>
      </p:sp>
      <p:sp>
        <p:nvSpPr>
          <p:cNvPr id="94" name="Google Shape;9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4" name="Title 1">
            <a:extLst>
              <a:ext uri="{FF2B5EF4-FFF2-40B4-BE49-F238E27FC236}">
                <a16:creationId xmlns:a16="http://schemas.microsoft.com/office/drawing/2014/main" id="{3D7E6445-6FB9-329F-2ADD-D98F2690AC31}"/>
              </a:ext>
            </a:extLst>
          </p:cNvPr>
          <p:cNvSpPr>
            <a:spLocks noGrp="1"/>
          </p:cNvSpPr>
          <p:nvPr>
            <p:ph type="ctrTitle"/>
          </p:nvPr>
        </p:nvSpPr>
        <p:spPr>
          <a:xfrm>
            <a:off x="1524000" y="1309116"/>
            <a:ext cx="9144000" cy="3787293"/>
          </a:xfrm>
        </p:spPr>
        <p:txBody>
          <a:bodyPr/>
          <a:lstStyle/>
          <a:p>
            <a:r>
              <a:rPr lang="en-US" sz="4400" dirty="0">
                <a:latin typeface="Arial Narrow" panose="020B0606020202030204" pitchFamily="34" charset="0"/>
              </a:rPr>
              <a:t>A Comparative Study of Methods for Mitigating Catastrophic Forgetting in Neural Networks</a:t>
            </a:r>
            <a:br>
              <a:rPr lang="en-US" dirty="0"/>
            </a:br>
            <a:r>
              <a:rPr lang="en-US" sz="3600" dirty="0">
                <a:latin typeface="Arial Narrow" panose="020B0606020202030204" pitchFamily="34" charset="0"/>
              </a:rPr>
              <a:t>Continual Learning</a:t>
            </a:r>
            <a:r>
              <a:rPr lang="en-US" dirty="0">
                <a:latin typeface="Arial Narrow" panose="020B0606020202030204" pitchFamily="34" charset="0"/>
              </a:rPr>
              <a:t> </a:t>
            </a:r>
            <a:endParaRPr lang="en-IN" dirty="0">
              <a:latin typeface="Arial Narrow" panose="020B0606020202030204" pitchFamily="34" charset="0"/>
            </a:endParaRPr>
          </a:p>
        </p:txBody>
      </p:sp>
      <p:sp>
        <p:nvSpPr>
          <p:cNvPr id="7" name="Subtitle 2">
            <a:extLst>
              <a:ext uri="{FF2B5EF4-FFF2-40B4-BE49-F238E27FC236}">
                <a16:creationId xmlns:a16="http://schemas.microsoft.com/office/drawing/2014/main" id="{33F64D5A-9CC4-B842-F4D1-819EE90BB068}"/>
              </a:ext>
            </a:extLst>
          </p:cNvPr>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28/02/2025</a:t>
            </a:r>
            <a:endParaRPr lang="en-IN" dirty="0">
              <a:latin typeface="Arial Narrow" panose="020B0606020202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Problem Statement</a:t>
            </a:r>
            <a:endParaRPr b="1" dirty="0">
              <a:latin typeface="Arial Narrow"/>
              <a:ea typeface="Arial Narrow"/>
              <a:cs typeface="Arial Narrow"/>
              <a:sym typeface="Arial Narrow"/>
            </a:endParaRPr>
          </a:p>
        </p:txBody>
      </p:sp>
      <p:sp>
        <p:nvSpPr>
          <p:cNvPr id="100" name="Google Shape;100;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Neural networks suffer from </a:t>
            </a:r>
            <a:r>
              <a:rPr lang="en-US" b="1" dirty="0"/>
              <a:t>catastrophic forgetting</a:t>
            </a:r>
            <a:r>
              <a:rPr lang="en-US" dirty="0"/>
              <a:t>, where learning new tasks leads to the loss of previously acquired knowledge. This project aims to </a:t>
            </a:r>
            <a:r>
              <a:rPr lang="en-US" b="1" dirty="0"/>
              <a:t>analyze and compare different approaches</a:t>
            </a:r>
            <a:r>
              <a:rPr lang="en-US" dirty="0"/>
              <a:t> for mitigating catastrophic forgetting in </a:t>
            </a:r>
            <a:r>
              <a:rPr lang="en-US" b="1" dirty="0"/>
              <a:t>continual learning settings</a:t>
            </a:r>
            <a:r>
              <a:rPr lang="en-US" dirty="0"/>
              <a:t>. The study evaluates multiple techniques, including </a:t>
            </a:r>
            <a:r>
              <a:rPr lang="en-US" b="1" dirty="0"/>
              <a:t>regularization-based, replay-based, and architectural methods</a:t>
            </a:r>
            <a:r>
              <a:rPr lang="en-US" dirty="0"/>
              <a:t>, using the </a:t>
            </a:r>
            <a:r>
              <a:rPr lang="en-US" b="1" dirty="0"/>
              <a:t>Split-MNIST dataset</a:t>
            </a:r>
            <a:r>
              <a:rPr lang="en-US" dirty="0"/>
              <a:t> to assess their effectiveness in maintaining past knowledge while learning new tasks.</a:t>
            </a:r>
            <a:endParaRPr dirty="0"/>
          </a:p>
        </p:txBody>
      </p:sp>
      <p:sp>
        <p:nvSpPr>
          <p:cNvPr id="101" name="Google Shape;101;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Objectives</a:t>
            </a:r>
            <a:endParaRPr b="1" dirty="0">
              <a:latin typeface="Arial Narrow"/>
              <a:ea typeface="Arial Narrow"/>
              <a:cs typeface="Arial Narrow"/>
              <a:sym typeface="Arial Narrow"/>
            </a:endParaRPr>
          </a:p>
        </p:txBody>
      </p:sp>
      <p:sp>
        <p:nvSpPr>
          <p:cNvPr id="109" name="Google Shape;10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10" name="Google Shape;1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2" name="TextBox 21">
            <a:extLst>
              <a:ext uri="{FF2B5EF4-FFF2-40B4-BE49-F238E27FC236}">
                <a16:creationId xmlns:a16="http://schemas.microsoft.com/office/drawing/2014/main" id="{14D5CF7B-746F-4891-840A-4570F2D3B7DA}"/>
              </a:ext>
            </a:extLst>
          </p:cNvPr>
          <p:cNvSpPr txBox="1"/>
          <p:nvPr/>
        </p:nvSpPr>
        <p:spPr>
          <a:xfrm>
            <a:off x="516835" y="1868557"/>
            <a:ext cx="10836965" cy="3046988"/>
          </a:xfrm>
          <a:prstGeom prst="rect">
            <a:avLst/>
          </a:prstGeom>
          <a:noFill/>
        </p:spPr>
        <p:txBody>
          <a:bodyPr wrap="square" rtlCol="0">
            <a:spAutoFit/>
          </a:bodyPr>
          <a:lstStyle/>
          <a:p>
            <a:pPr marL="285750" indent="-285750" rtl="0">
              <a:buFont typeface="Arial" panose="020B0604020202020204" pitchFamily="34" charset="0"/>
              <a:buChar char="•"/>
            </a:pPr>
            <a:r>
              <a:rPr lang="en-US" sz="2400" b="1" i="0" u="none" strike="noStrike" dirty="0">
                <a:solidFill>
                  <a:srgbClr val="000000"/>
                </a:solidFill>
                <a:effectLst/>
                <a:latin typeface="Arial" panose="020B0604020202020204" pitchFamily="34" charset="0"/>
              </a:rPr>
              <a:t>Understand</a:t>
            </a:r>
            <a:r>
              <a:rPr lang="en-US" sz="2400" b="0" i="0" u="none" strike="noStrike" dirty="0">
                <a:solidFill>
                  <a:srgbClr val="000000"/>
                </a:solidFill>
                <a:effectLst/>
                <a:latin typeface="Arial" panose="020B0604020202020204" pitchFamily="34" charset="0"/>
              </a:rPr>
              <a:t> how catastrophic forgetting impedes continual learning in neural networks.</a:t>
            </a:r>
            <a:endParaRPr lang="en-US" sz="2400" b="0" dirty="0">
              <a:effectLst/>
            </a:endParaRPr>
          </a:p>
          <a:p>
            <a:pPr marL="285750" indent="-285750" rtl="0">
              <a:buFont typeface="Arial" panose="020B0604020202020204" pitchFamily="34" charset="0"/>
              <a:buChar char="•"/>
            </a:pPr>
            <a:r>
              <a:rPr lang="en-US" sz="2400" b="1" i="0" u="none" strike="noStrike" dirty="0">
                <a:solidFill>
                  <a:srgbClr val="000000"/>
                </a:solidFill>
                <a:effectLst/>
                <a:latin typeface="Arial" panose="020B0604020202020204" pitchFamily="34" charset="0"/>
              </a:rPr>
              <a:t>Evaluate and compare</a:t>
            </a:r>
            <a:r>
              <a:rPr lang="en-US" sz="2400" b="0" i="0" u="none" strike="noStrike" dirty="0">
                <a:solidFill>
                  <a:srgbClr val="000000"/>
                </a:solidFill>
                <a:effectLst/>
                <a:latin typeface="Arial" panose="020B0604020202020204" pitchFamily="34" charset="0"/>
              </a:rPr>
              <a:t> various strategies (regularization, replay, architectural) for mitigating forgetting.</a:t>
            </a:r>
            <a:endParaRPr lang="en-US" sz="2400" b="0" dirty="0">
              <a:effectLst/>
            </a:endParaRPr>
          </a:p>
          <a:p>
            <a:pPr marL="285750" indent="-285750" rtl="0">
              <a:buFont typeface="Arial" panose="020B0604020202020204" pitchFamily="34" charset="0"/>
              <a:buChar char="•"/>
            </a:pPr>
            <a:r>
              <a:rPr lang="en-US" sz="2400" b="1" i="0" u="none" strike="noStrike" dirty="0">
                <a:solidFill>
                  <a:srgbClr val="000000"/>
                </a:solidFill>
                <a:effectLst/>
                <a:latin typeface="Arial" panose="020B0604020202020204" pitchFamily="34" charset="0"/>
              </a:rPr>
              <a:t>Identify key trade-offs</a:t>
            </a:r>
            <a:r>
              <a:rPr lang="en-US" sz="2400" b="0" i="0" u="none" strike="noStrike" dirty="0">
                <a:solidFill>
                  <a:srgbClr val="000000"/>
                </a:solidFill>
                <a:effectLst/>
                <a:latin typeface="Arial" panose="020B0604020202020204" pitchFamily="34" charset="0"/>
              </a:rPr>
              <a:t> (e.g., stability vs. plasticity, accuracy, efficiency) among these approaches.</a:t>
            </a:r>
            <a:endParaRPr lang="en-US" sz="2400" b="0" dirty="0">
              <a:effectLst/>
            </a:endParaRPr>
          </a:p>
          <a:p>
            <a:pPr marL="285750" indent="-285750" rtl="0">
              <a:buFont typeface="Arial" panose="020B0604020202020204" pitchFamily="34" charset="0"/>
              <a:buChar char="•"/>
            </a:pPr>
            <a:r>
              <a:rPr lang="en-US" sz="2400" b="1" i="0" u="none" strike="noStrike" dirty="0">
                <a:solidFill>
                  <a:srgbClr val="000000"/>
                </a:solidFill>
                <a:effectLst/>
                <a:latin typeface="Arial" panose="020B0604020202020204" pitchFamily="34" charset="0"/>
              </a:rPr>
              <a:t>Derive insights</a:t>
            </a:r>
            <a:r>
              <a:rPr lang="en-US" sz="2400" b="0" i="0" u="none" strike="noStrike" dirty="0">
                <a:solidFill>
                  <a:srgbClr val="000000"/>
                </a:solidFill>
                <a:effectLst/>
                <a:latin typeface="Arial" panose="020B0604020202020204" pitchFamily="34" charset="0"/>
              </a:rPr>
              <a:t> to guide method selection for real-world continual learning applications.</a:t>
            </a:r>
            <a:endParaRPr lang="en-US" sz="2400" b="0"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Review of Related Literature</a:t>
            </a:r>
            <a:endParaRPr b="1">
              <a:latin typeface="Arial Narrow"/>
              <a:ea typeface="Arial Narrow"/>
              <a:cs typeface="Arial Narrow"/>
              <a:sym typeface="Arial Narrow"/>
            </a:endParaRPr>
          </a:p>
        </p:txBody>
      </p:sp>
      <p:sp>
        <p:nvSpPr>
          <p:cNvPr id="116" name="Google Shape;116;p4"/>
          <p:cNvSpPr txBox="1">
            <a:spLocks noGrp="1"/>
          </p:cNvSpPr>
          <p:nvPr>
            <p:ph type="body" idx="1"/>
          </p:nvPr>
        </p:nvSpPr>
        <p:spPr>
          <a:xfrm>
            <a:off x="838200" y="1825625"/>
            <a:ext cx="10515600" cy="4530725"/>
          </a:xfrm>
          <a:prstGeom prst="rect">
            <a:avLst/>
          </a:prstGeom>
          <a:noFill/>
          <a:ln>
            <a:noFill/>
          </a:ln>
        </p:spPr>
        <p:txBody>
          <a:bodyPr spcFirstLastPara="1" wrap="square" lIns="91425" tIns="45700" rIns="91425" bIns="45700" anchor="t" anchorCtr="0">
            <a:normAutofit/>
          </a:bodyPr>
          <a:lstStyle/>
          <a:p>
            <a:pPr marL="0" indent="0">
              <a:spcBef>
                <a:spcPts val="0"/>
              </a:spcBef>
              <a:buClr>
                <a:schemeClr val="tx1"/>
              </a:buClr>
              <a:buSzPts val="2800"/>
              <a:buNone/>
            </a:pPr>
            <a:r>
              <a:rPr lang="en-IN" b="1" dirty="0"/>
              <a:t>Base Paper</a:t>
            </a:r>
          </a:p>
          <a:p>
            <a:pPr indent="-457200">
              <a:spcBef>
                <a:spcPts val="0"/>
              </a:spcBef>
              <a:buClr>
                <a:schemeClr val="tx1"/>
              </a:buClr>
              <a:buSzPts val="2800"/>
            </a:pPr>
            <a:r>
              <a:rPr lang="en-IN" b="1" dirty="0"/>
              <a:t>Title:</a:t>
            </a:r>
            <a:r>
              <a:rPr lang="en-IN" dirty="0"/>
              <a:t> </a:t>
            </a:r>
            <a:r>
              <a:rPr lang="en-IN" i="1" dirty="0"/>
              <a:t>Three Scenarios for Continual Learning</a:t>
            </a:r>
            <a:endParaRPr lang="en-IN" b="1" i="1" dirty="0"/>
          </a:p>
          <a:p>
            <a:pPr indent="-457200">
              <a:spcBef>
                <a:spcPts val="0"/>
              </a:spcBef>
              <a:buClr>
                <a:schemeClr val="tx1"/>
              </a:buClr>
              <a:buSzPts val="2800"/>
            </a:pPr>
            <a:r>
              <a:rPr lang="en-IN" b="1" dirty="0"/>
              <a:t>Author(s):</a:t>
            </a:r>
            <a:r>
              <a:rPr lang="en-IN" dirty="0"/>
              <a:t> </a:t>
            </a:r>
            <a:r>
              <a:rPr lang="en-IN" dirty="0" err="1"/>
              <a:t>Gido</a:t>
            </a:r>
            <a:r>
              <a:rPr lang="en-IN" dirty="0"/>
              <a:t> M. van de Ven &amp; Andreas S. Tolias</a:t>
            </a:r>
          </a:p>
          <a:p>
            <a:pPr indent="-457200">
              <a:spcBef>
                <a:spcPts val="0"/>
              </a:spcBef>
              <a:buClr>
                <a:schemeClr val="tx1"/>
              </a:buClr>
              <a:buSzPts val="2800"/>
            </a:pPr>
            <a:r>
              <a:rPr lang="en-IN" b="1" dirty="0"/>
              <a:t>Journal:</a:t>
            </a:r>
            <a:r>
              <a:rPr lang="en-IN" dirty="0"/>
              <a:t> </a:t>
            </a:r>
            <a:r>
              <a:rPr lang="en-IN" dirty="0" err="1"/>
              <a:t>NeurIPS</a:t>
            </a:r>
            <a:r>
              <a:rPr lang="en-IN" dirty="0"/>
              <a:t> Continual Learning Workshop (2018)</a:t>
            </a:r>
          </a:p>
          <a:p>
            <a:pPr indent="-457200">
              <a:spcBef>
                <a:spcPts val="0"/>
              </a:spcBef>
              <a:buClr>
                <a:schemeClr val="tx1"/>
              </a:buClr>
              <a:buSzPts val="2800"/>
            </a:pPr>
            <a:r>
              <a:rPr lang="en-IN" b="1" dirty="0"/>
              <a:t>Year of Publication:</a:t>
            </a:r>
            <a:r>
              <a:rPr lang="en-IN" dirty="0"/>
              <a:t> 2019</a:t>
            </a:r>
          </a:p>
          <a:p>
            <a:pPr indent="-457200">
              <a:spcBef>
                <a:spcPts val="0"/>
              </a:spcBef>
              <a:buClr>
                <a:schemeClr val="tx1"/>
              </a:buClr>
              <a:buSzPts val="2800"/>
            </a:pPr>
            <a:r>
              <a:rPr lang="en-IN" b="1" dirty="0"/>
              <a:t>Methodology: </a:t>
            </a:r>
          </a:p>
          <a:p>
            <a:pPr lvl="1" indent="-457200">
              <a:spcBef>
                <a:spcPts val="0"/>
              </a:spcBef>
              <a:buClr>
                <a:schemeClr val="tx1"/>
              </a:buClr>
              <a:buSzPts val="2800"/>
            </a:pPr>
            <a:r>
              <a:rPr lang="en-IN" dirty="0"/>
              <a:t>Defined three continual learning scenarios: Task-IL, Domain-IL, Class-IL.</a:t>
            </a:r>
          </a:p>
          <a:p>
            <a:pPr lvl="1" indent="-457200">
              <a:spcBef>
                <a:spcPts val="0"/>
              </a:spcBef>
              <a:buClr>
                <a:schemeClr val="tx1"/>
              </a:buClr>
              <a:buSzPts val="2800"/>
            </a:pPr>
            <a:r>
              <a:rPr lang="en-IN" dirty="0"/>
              <a:t>Compared different regularization, replay, and architectural methods on Split-MNIST and Permuted-MNIST benchmarks.</a:t>
            </a:r>
          </a:p>
          <a:p>
            <a:pPr lvl="1" indent="-457200">
              <a:spcBef>
                <a:spcPts val="0"/>
              </a:spcBef>
              <a:buClr>
                <a:schemeClr val="tx1"/>
              </a:buClr>
              <a:buSzPts val="2800"/>
            </a:pPr>
            <a:r>
              <a:rPr lang="en-IN" dirty="0"/>
              <a:t>Used extensive experimental evaluation to assess method effectiveness across different scenarios.</a:t>
            </a:r>
          </a:p>
          <a:p>
            <a:pPr lvl="1" indent="-457200">
              <a:spcBef>
                <a:spcPts val="0"/>
              </a:spcBef>
              <a:buClr>
                <a:schemeClr val="tx1"/>
              </a:buClr>
              <a:buSzPts val="2800"/>
            </a:pPr>
            <a:endParaRPr lang="en-IN" b="1" dirty="0"/>
          </a:p>
          <a:p>
            <a:pPr marL="228600" lvl="0" indent="-228600" algn="l" rtl="0">
              <a:lnSpc>
                <a:spcPct val="90000"/>
              </a:lnSpc>
              <a:spcBef>
                <a:spcPts val="0"/>
              </a:spcBef>
              <a:spcAft>
                <a:spcPts val="0"/>
              </a:spcAft>
              <a:buClr>
                <a:srgbClr val="FF0000"/>
              </a:buClr>
              <a:buSzPts val="2800"/>
              <a:buChar char="•"/>
            </a:pPr>
            <a:endParaRPr lang="en-IN" dirty="0"/>
          </a:p>
          <a:p>
            <a:pPr marL="228600" lvl="0" indent="-228600" algn="l" rtl="0">
              <a:lnSpc>
                <a:spcPct val="90000"/>
              </a:lnSpc>
              <a:spcBef>
                <a:spcPts val="0"/>
              </a:spcBef>
              <a:spcAft>
                <a:spcPts val="0"/>
              </a:spcAft>
              <a:buClr>
                <a:srgbClr val="FF0000"/>
              </a:buClr>
              <a:buSzPts val="2800"/>
              <a:buChar char="•"/>
            </a:pPr>
            <a:endParaRPr dirty="0">
              <a:solidFill>
                <a:srgbClr val="FF0000"/>
              </a:solidFill>
            </a:endParaRPr>
          </a:p>
        </p:txBody>
      </p:sp>
      <p:sp>
        <p:nvSpPr>
          <p:cNvPr id="117" name="Google Shape;11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18" name="Google Shape;11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DD818D4B-B00A-53EB-E3D0-03A82F75E250}"/>
            </a:ext>
          </a:extLst>
        </p:cNvPr>
        <p:cNvGrpSpPr/>
        <p:nvPr/>
      </p:nvGrpSpPr>
      <p:grpSpPr>
        <a:xfrm>
          <a:off x="0" y="0"/>
          <a:ext cx="0" cy="0"/>
          <a:chOff x="0" y="0"/>
          <a:chExt cx="0" cy="0"/>
        </a:xfrm>
      </p:grpSpPr>
      <p:sp>
        <p:nvSpPr>
          <p:cNvPr id="115" name="Google Shape;115;p4">
            <a:extLst>
              <a:ext uri="{FF2B5EF4-FFF2-40B4-BE49-F238E27FC236}">
                <a16:creationId xmlns:a16="http://schemas.microsoft.com/office/drawing/2014/main" id="{237D682E-F8D6-A144-C2CE-2924BBC310CD}"/>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Review of Related Literature</a:t>
            </a:r>
            <a:endParaRPr b="1">
              <a:latin typeface="Arial Narrow"/>
              <a:ea typeface="Arial Narrow"/>
              <a:cs typeface="Arial Narrow"/>
              <a:sym typeface="Arial Narrow"/>
            </a:endParaRPr>
          </a:p>
        </p:txBody>
      </p:sp>
      <p:sp>
        <p:nvSpPr>
          <p:cNvPr id="116" name="Google Shape;116;p4">
            <a:extLst>
              <a:ext uri="{FF2B5EF4-FFF2-40B4-BE49-F238E27FC236}">
                <a16:creationId xmlns:a16="http://schemas.microsoft.com/office/drawing/2014/main" id="{A19618D0-48D2-5AFA-1714-DFF871080C2A}"/>
              </a:ext>
            </a:extLst>
          </p:cNvPr>
          <p:cNvSpPr txBox="1">
            <a:spLocks noGrp="1"/>
          </p:cNvSpPr>
          <p:nvPr>
            <p:ph type="body" idx="1"/>
          </p:nvPr>
        </p:nvSpPr>
        <p:spPr>
          <a:xfrm>
            <a:off x="838200" y="1825625"/>
            <a:ext cx="10515600" cy="426507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tx1"/>
              </a:buClr>
              <a:buSzPts val="2800"/>
              <a:buChar char="•"/>
            </a:pPr>
            <a:r>
              <a:rPr lang="en-US" b="1" dirty="0">
                <a:solidFill>
                  <a:schemeClr val="tx1"/>
                </a:solidFill>
              </a:rPr>
              <a:t>Outcomes:</a:t>
            </a:r>
          </a:p>
          <a:p>
            <a:pPr marL="685800" lvl="1" indent="-228600">
              <a:spcBef>
                <a:spcPts val="0"/>
              </a:spcBef>
              <a:buClr>
                <a:schemeClr val="tx1"/>
              </a:buClr>
              <a:buSzPts val="2800"/>
            </a:pPr>
            <a:r>
              <a:rPr lang="en-US" sz="2600" dirty="0">
                <a:solidFill>
                  <a:schemeClr val="tx1"/>
                </a:solidFill>
              </a:rPr>
              <a:t>Regularization-based methods (e.g., EWC, SI) fail when task identity is not provided.</a:t>
            </a:r>
          </a:p>
          <a:p>
            <a:pPr marL="685800" lvl="1" indent="-228600">
              <a:spcBef>
                <a:spcPts val="0"/>
              </a:spcBef>
              <a:buClr>
                <a:schemeClr val="tx1"/>
              </a:buClr>
              <a:buSzPts val="2800"/>
            </a:pPr>
            <a:r>
              <a:rPr lang="en-US" sz="2600" dirty="0">
                <a:solidFill>
                  <a:schemeClr val="tx1"/>
                </a:solidFill>
              </a:rPr>
              <a:t>Replay-based methods perform best in more challenging scenarios (Class-IL).</a:t>
            </a:r>
          </a:p>
          <a:p>
            <a:pPr marL="685800" lvl="1" indent="-228600">
              <a:spcBef>
                <a:spcPts val="0"/>
              </a:spcBef>
              <a:buClr>
                <a:schemeClr val="tx1"/>
              </a:buClr>
              <a:buSzPts val="2800"/>
            </a:pPr>
            <a:r>
              <a:rPr lang="en-US" sz="2600" dirty="0">
                <a:solidFill>
                  <a:schemeClr val="tx1"/>
                </a:solidFill>
              </a:rPr>
              <a:t>Architectural methods work well when task identity is available (Task-IL).</a:t>
            </a:r>
          </a:p>
          <a:p>
            <a:pPr marL="685800" lvl="1" indent="-228600">
              <a:spcBef>
                <a:spcPts val="0"/>
              </a:spcBef>
              <a:buClr>
                <a:schemeClr val="tx1"/>
              </a:buClr>
              <a:buSzPts val="2800"/>
            </a:pPr>
            <a:endParaRPr lang="en-US" dirty="0">
              <a:solidFill>
                <a:schemeClr val="tx1"/>
              </a:solidFill>
            </a:endParaRPr>
          </a:p>
          <a:p>
            <a:pPr marL="228600" indent="-228600">
              <a:spcBef>
                <a:spcPts val="0"/>
              </a:spcBef>
              <a:buClr>
                <a:schemeClr val="tx1"/>
              </a:buClr>
              <a:buSzPts val="2800"/>
            </a:pPr>
            <a:r>
              <a:rPr lang="en-US" b="1" dirty="0">
                <a:solidFill>
                  <a:schemeClr val="tx1"/>
                </a:solidFill>
              </a:rPr>
              <a:t>Points considered for methodology:</a:t>
            </a:r>
          </a:p>
          <a:p>
            <a:pPr marL="685800" lvl="1" indent="-228600">
              <a:spcBef>
                <a:spcPts val="0"/>
              </a:spcBef>
              <a:buClr>
                <a:schemeClr val="tx1"/>
              </a:buClr>
              <a:buSzPts val="2800"/>
            </a:pPr>
            <a:r>
              <a:rPr lang="en-US" sz="2600" dirty="0">
                <a:solidFill>
                  <a:schemeClr val="tx1"/>
                </a:solidFill>
              </a:rPr>
              <a:t>Analyzing method performance across different evaluation settings</a:t>
            </a:r>
          </a:p>
          <a:p>
            <a:pPr marL="685800" lvl="1" indent="-228600">
              <a:spcBef>
                <a:spcPts val="0"/>
              </a:spcBef>
              <a:buClr>
                <a:schemeClr val="tx1"/>
              </a:buClr>
              <a:buSzPts val="2800"/>
            </a:pPr>
            <a:r>
              <a:rPr lang="en-US" sz="2600" dirty="0">
                <a:solidFill>
                  <a:schemeClr val="tx1"/>
                </a:solidFill>
              </a:rPr>
              <a:t>Studying the impact of task labels on method effectiveness</a:t>
            </a:r>
          </a:p>
          <a:p>
            <a:pPr marL="685800" lvl="1" indent="-228600">
              <a:spcBef>
                <a:spcPts val="0"/>
              </a:spcBef>
              <a:buClr>
                <a:schemeClr val="tx1"/>
              </a:buClr>
              <a:buSzPts val="2800"/>
            </a:pPr>
            <a:r>
              <a:rPr lang="en-US" sz="2600" dirty="0">
                <a:solidFill>
                  <a:schemeClr val="tx1"/>
                </a:solidFill>
              </a:rPr>
              <a:t>Assessing forgetting over time using performance metrics</a:t>
            </a:r>
          </a:p>
        </p:txBody>
      </p:sp>
      <p:sp>
        <p:nvSpPr>
          <p:cNvPr id="117" name="Google Shape;117;p4">
            <a:extLst>
              <a:ext uri="{FF2B5EF4-FFF2-40B4-BE49-F238E27FC236}">
                <a16:creationId xmlns:a16="http://schemas.microsoft.com/office/drawing/2014/main" id="{587F8ED7-6A6E-E605-3094-27B6AB9B18B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18" name="Google Shape;118;p4">
            <a:extLst>
              <a:ext uri="{FF2B5EF4-FFF2-40B4-BE49-F238E27FC236}">
                <a16:creationId xmlns:a16="http://schemas.microsoft.com/office/drawing/2014/main" id="{DC337E6D-D57F-DC8B-0AA1-CB9E695E79B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56764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825625"/>
            <a:ext cx="10515600" cy="3231405"/>
          </a:xfrm>
        </p:spPr>
        <p:txBody>
          <a:bodyPr>
            <a:normAutofit/>
          </a:bodyPr>
          <a:lstStyle/>
          <a:p>
            <a:r>
              <a:rPr lang="en-US" b="1" dirty="0">
                <a:latin typeface="Arial Narrow" panose="020B0606020202030204" pitchFamily="34" charset="0"/>
              </a:rPr>
              <a:t>Source of the Dataset: </a:t>
            </a:r>
            <a:r>
              <a:rPr lang="en-IN" dirty="0">
                <a:latin typeface="Arial Narrow" panose="020B0606020202030204" pitchFamily="34" charset="0"/>
              </a:rPr>
              <a:t>Yann LeCun, Corinna Cortes, Christopher J.C. 				        Burges. "The MNIST Database of handwritten digits".                                     			        http://yann.lecun.com/exdb/mnist/</a:t>
            </a:r>
            <a:endParaRPr lang="en-US" dirty="0">
              <a:latin typeface="Arial Narrow" panose="020B0606020202030204" pitchFamily="34" charset="0"/>
            </a:endParaRPr>
          </a:p>
          <a:p>
            <a:r>
              <a:rPr lang="en-US" b="1" dirty="0">
                <a:latin typeface="Arial Narrow" panose="020B0606020202030204" pitchFamily="34" charset="0"/>
              </a:rPr>
              <a:t>No. of Observations: </a:t>
            </a:r>
            <a:r>
              <a:rPr lang="en-US" dirty="0">
                <a:latin typeface="Arial Narrow" panose="020B0606020202030204" pitchFamily="34" charset="0"/>
              </a:rPr>
              <a:t>Training Samples: 60,000</a:t>
            </a:r>
          </a:p>
          <a:p>
            <a:pPr marL="3200400" lvl="7" indent="0">
              <a:buNone/>
            </a:pPr>
            <a:r>
              <a:rPr lang="en-US" sz="2800" dirty="0">
                <a:latin typeface="Arial Narrow" panose="020B0606020202030204" pitchFamily="34" charset="0"/>
              </a:rPr>
              <a:t>Test Samples: 10,000</a:t>
            </a:r>
          </a:p>
          <a:p>
            <a:r>
              <a:rPr lang="en-US" b="1" dirty="0">
                <a:latin typeface="Arial Narrow" panose="020B0606020202030204" pitchFamily="34" charset="0"/>
              </a:rPr>
              <a:t>Column/Feature Details: </a:t>
            </a:r>
            <a:r>
              <a:rPr lang="en-US" dirty="0">
                <a:latin typeface="Arial Narrow" panose="020B0606020202030204" pitchFamily="34" charset="0"/>
              </a:rPr>
              <a:t>Input Shape: (1, 28, 28)</a:t>
            </a:r>
          </a:p>
          <a:p>
            <a:pPr marL="3657600" lvl="8" indent="0">
              <a:buNone/>
            </a:pPr>
            <a:r>
              <a:rPr lang="en-US" sz="2800" dirty="0">
                <a:latin typeface="Arial Narrow" panose="020B0606020202030204" pitchFamily="34" charset="0"/>
              </a:rPr>
              <a:t>No. of Classes: 10 (0-9 digits)</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CS7501 Project I PGP, ICER, VIT Bangalore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DC104-672A-4227-99C4-0E2CC007FDBA}"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347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4C35-1A7E-E3E4-B40F-1D188AED0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03D42-7536-149C-A1A9-C40FE04892B9}"/>
              </a:ext>
            </a:extLst>
          </p:cNvPr>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62DC0AC5-70AD-4C1B-04F3-7DA9249A84C6}"/>
              </a:ext>
            </a:extLst>
          </p:cNvPr>
          <p:cNvSpPr>
            <a:spLocks noGrp="1"/>
          </p:cNvSpPr>
          <p:nvPr>
            <p:ph idx="1"/>
          </p:nvPr>
        </p:nvSpPr>
        <p:spPr/>
        <p:txBody>
          <a:bodyPr/>
          <a:lstStyle/>
          <a:p>
            <a:r>
              <a:rPr lang="en-US" b="1" dirty="0">
                <a:latin typeface="Arial Narrow" panose="020B0606020202030204" pitchFamily="34" charset="0"/>
              </a:rPr>
              <a:t>Screenshot of the dataset:</a:t>
            </a:r>
            <a:endParaRPr lang="en-IN" b="1" dirty="0">
              <a:latin typeface="Arial Narrow" panose="020B0606020202030204" pitchFamily="34" charset="0"/>
            </a:endParaRPr>
          </a:p>
        </p:txBody>
      </p:sp>
      <p:sp>
        <p:nvSpPr>
          <p:cNvPr id="4" name="Footer Placeholder 3">
            <a:extLst>
              <a:ext uri="{FF2B5EF4-FFF2-40B4-BE49-F238E27FC236}">
                <a16:creationId xmlns:a16="http://schemas.microsoft.com/office/drawing/2014/main" id="{531CB0BC-CB21-3F49-0311-6D2F9162277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CS7501 Project I PGP, ICER, VIT Bangalore</a:t>
            </a:r>
          </a:p>
        </p:txBody>
      </p:sp>
      <p:sp>
        <p:nvSpPr>
          <p:cNvPr id="5" name="Slide Number Placeholder 4">
            <a:extLst>
              <a:ext uri="{FF2B5EF4-FFF2-40B4-BE49-F238E27FC236}">
                <a16:creationId xmlns:a16="http://schemas.microsoft.com/office/drawing/2014/main" id="{C9853FAE-B45F-4286-D09C-E231EF803CA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DC104-672A-4227-99C4-0E2CC007FDBA}"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52198782-B156-DDFF-5CA1-DC4F8E8774FF}"/>
              </a:ext>
            </a:extLst>
          </p:cNvPr>
          <p:cNvPicPr>
            <a:picLocks noChangeAspect="1"/>
          </p:cNvPicPr>
          <p:nvPr/>
        </p:nvPicPr>
        <p:blipFill>
          <a:blip r:embed="rId2"/>
          <a:stretch>
            <a:fillRect/>
          </a:stretch>
        </p:blipFill>
        <p:spPr>
          <a:xfrm>
            <a:off x="5099113" y="844060"/>
            <a:ext cx="5325047" cy="5423093"/>
          </a:xfrm>
          <a:prstGeom prst="rect">
            <a:avLst/>
          </a:prstGeom>
        </p:spPr>
      </p:pic>
    </p:spTree>
    <p:extLst>
      <p:ext uri="{BB962C8B-B14F-4D97-AF65-F5344CB8AC3E}">
        <p14:creationId xmlns:p14="http://schemas.microsoft.com/office/powerpoint/2010/main" val="1342356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Proposed Methodology</a:t>
            </a:r>
            <a:endParaRPr b="1">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 name="Rectangle: Rounded Corners 1">
            <a:extLst>
              <a:ext uri="{FF2B5EF4-FFF2-40B4-BE49-F238E27FC236}">
                <a16:creationId xmlns:a16="http://schemas.microsoft.com/office/drawing/2014/main" id="{C6C2B658-945B-A144-BEB0-D73CBA519405}"/>
              </a:ext>
            </a:extLst>
          </p:cNvPr>
          <p:cNvSpPr/>
          <p:nvPr/>
        </p:nvSpPr>
        <p:spPr>
          <a:xfrm>
            <a:off x="349857"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Preparation</a:t>
            </a:r>
            <a:endParaRPr lang="en-IN" dirty="0"/>
          </a:p>
        </p:txBody>
      </p:sp>
      <p:cxnSp>
        <p:nvCxnSpPr>
          <p:cNvPr id="4" name="Straight Arrow Connector 3">
            <a:extLst>
              <a:ext uri="{FF2B5EF4-FFF2-40B4-BE49-F238E27FC236}">
                <a16:creationId xmlns:a16="http://schemas.microsoft.com/office/drawing/2014/main" id="{A7A35B62-CB3D-7EB5-E3D0-3597A9BAAE70}"/>
              </a:ext>
            </a:extLst>
          </p:cNvPr>
          <p:cNvCxnSpPr>
            <a:cxnSpLocks/>
            <a:stCxn id="2" idx="3"/>
            <a:endCxn id="8" idx="1"/>
          </p:cNvCxnSpPr>
          <p:nvPr/>
        </p:nvCxnSpPr>
        <p:spPr>
          <a:xfrm>
            <a:off x="2631882" y="1785068"/>
            <a:ext cx="177645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Rectangle: Rounded Corners 7">
            <a:extLst>
              <a:ext uri="{FF2B5EF4-FFF2-40B4-BE49-F238E27FC236}">
                <a16:creationId xmlns:a16="http://schemas.microsoft.com/office/drawing/2014/main" id="{C9AF1D7A-13DB-8B26-1B0B-AE12C61FB376}"/>
              </a:ext>
            </a:extLst>
          </p:cNvPr>
          <p:cNvSpPr/>
          <p:nvPr/>
        </p:nvSpPr>
        <p:spPr>
          <a:xfrm>
            <a:off x="4408336"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Exploratory Data Analysis</a:t>
            </a:r>
            <a:endParaRPr lang="en-IN" dirty="0"/>
          </a:p>
        </p:txBody>
      </p:sp>
      <p:cxnSp>
        <p:nvCxnSpPr>
          <p:cNvPr id="10" name="Straight Arrow Connector 9">
            <a:extLst>
              <a:ext uri="{FF2B5EF4-FFF2-40B4-BE49-F238E27FC236}">
                <a16:creationId xmlns:a16="http://schemas.microsoft.com/office/drawing/2014/main" id="{6B4B9786-C4AA-3844-392C-415358565D4A}"/>
              </a:ext>
            </a:extLst>
          </p:cNvPr>
          <p:cNvCxnSpPr>
            <a:cxnSpLocks/>
            <a:stCxn id="8" idx="3"/>
            <a:endCxn id="13" idx="1"/>
          </p:cNvCxnSpPr>
          <p:nvPr/>
        </p:nvCxnSpPr>
        <p:spPr>
          <a:xfrm>
            <a:off x="6690361" y="1785068"/>
            <a:ext cx="180560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Rectangle: Rounded Corners 12">
            <a:extLst>
              <a:ext uri="{FF2B5EF4-FFF2-40B4-BE49-F238E27FC236}">
                <a16:creationId xmlns:a16="http://schemas.microsoft.com/office/drawing/2014/main" id="{33A98BB7-5C5D-21BF-AF47-39E43E68E563}"/>
              </a:ext>
            </a:extLst>
          </p:cNvPr>
          <p:cNvSpPr/>
          <p:nvPr/>
        </p:nvSpPr>
        <p:spPr>
          <a:xfrm>
            <a:off x="8495970"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Analysis of Catastrophic Forgetting</a:t>
            </a:r>
            <a:endParaRPr lang="en-IN" dirty="0"/>
          </a:p>
        </p:txBody>
      </p:sp>
      <p:cxnSp>
        <p:nvCxnSpPr>
          <p:cNvPr id="15" name="Straight Arrow Connector 14">
            <a:extLst>
              <a:ext uri="{FF2B5EF4-FFF2-40B4-BE49-F238E27FC236}">
                <a16:creationId xmlns:a16="http://schemas.microsoft.com/office/drawing/2014/main" id="{BE7B99BE-BCA6-0153-976E-81AA6E37C519}"/>
              </a:ext>
            </a:extLst>
          </p:cNvPr>
          <p:cNvCxnSpPr>
            <a:cxnSpLocks/>
            <a:stCxn id="13" idx="2"/>
            <a:endCxn id="20" idx="0"/>
          </p:cNvCxnSpPr>
          <p:nvPr/>
        </p:nvCxnSpPr>
        <p:spPr>
          <a:xfrm>
            <a:off x="9636983" y="2115047"/>
            <a:ext cx="0" cy="13663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Rectangle: Rounded Corners 19">
            <a:extLst>
              <a:ext uri="{FF2B5EF4-FFF2-40B4-BE49-F238E27FC236}">
                <a16:creationId xmlns:a16="http://schemas.microsoft.com/office/drawing/2014/main" id="{1E69B73E-C010-B13E-5ED7-B67E7718AD9E}"/>
              </a:ext>
            </a:extLst>
          </p:cNvPr>
          <p:cNvSpPr/>
          <p:nvPr/>
        </p:nvSpPr>
        <p:spPr>
          <a:xfrm>
            <a:off x="8495970"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Implementation</a:t>
            </a:r>
            <a:endParaRPr lang="en-IN" dirty="0"/>
          </a:p>
        </p:txBody>
      </p:sp>
      <p:cxnSp>
        <p:nvCxnSpPr>
          <p:cNvPr id="22" name="Straight Arrow Connector 21">
            <a:extLst>
              <a:ext uri="{FF2B5EF4-FFF2-40B4-BE49-F238E27FC236}">
                <a16:creationId xmlns:a16="http://schemas.microsoft.com/office/drawing/2014/main" id="{C01F4736-D577-2734-1948-B7EC920EC618}"/>
              </a:ext>
            </a:extLst>
          </p:cNvPr>
          <p:cNvCxnSpPr>
            <a:cxnSpLocks/>
            <a:stCxn id="20" idx="1"/>
            <a:endCxn id="25" idx="3"/>
          </p:cNvCxnSpPr>
          <p:nvPr/>
        </p:nvCxnSpPr>
        <p:spPr>
          <a:xfrm flipH="1">
            <a:off x="6692018" y="3811339"/>
            <a:ext cx="180395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5" name="Rectangle: Rounded Corners 24">
            <a:extLst>
              <a:ext uri="{FF2B5EF4-FFF2-40B4-BE49-F238E27FC236}">
                <a16:creationId xmlns:a16="http://schemas.microsoft.com/office/drawing/2014/main" id="{40F0DCAC-AEDB-FE85-4D59-70B29F6702A8}"/>
              </a:ext>
            </a:extLst>
          </p:cNvPr>
          <p:cNvSpPr/>
          <p:nvPr/>
        </p:nvSpPr>
        <p:spPr>
          <a:xfrm>
            <a:off x="4409993"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Training Across Learning Scenarios</a:t>
            </a:r>
            <a:endParaRPr lang="en-IN" dirty="0"/>
          </a:p>
        </p:txBody>
      </p:sp>
      <p:cxnSp>
        <p:nvCxnSpPr>
          <p:cNvPr id="27" name="Straight Arrow Connector 26">
            <a:extLst>
              <a:ext uri="{FF2B5EF4-FFF2-40B4-BE49-F238E27FC236}">
                <a16:creationId xmlns:a16="http://schemas.microsoft.com/office/drawing/2014/main" id="{31537B7F-6857-0D92-72AE-43730AE618AA}"/>
              </a:ext>
            </a:extLst>
          </p:cNvPr>
          <p:cNvCxnSpPr>
            <a:cxnSpLocks/>
            <a:stCxn id="25" idx="1"/>
            <a:endCxn id="29" idx="3"/>
          </p:cNvCxnSpPr>
          <p:nvPr/>
        </p:nvCxnSpPr>
        <p:spPr>
          <a:xfrm flipH="1">
            <a:off x="2631882" y="3811339"/>
            <a:ext cx="177811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9" name="Rectangle: Rounded Corners 28">
            <a:extLst>
              <a:ext uri="{FF2B5EF4-FFF2-40B4-BE49-F238E27FC236}">
                <a16:creationId xmlns:a16="http://schemas.microsoft.com/office/drawing/2014/main" id="{E0BCE77C-5B31-018B-677F-678929A31CA2}"/>
              </a:ext>
            </a:extLst>
          </p:cNvPr>
          <p:cNvSpPr/>
          <p:nvPr/>
        </p:nvSpPr>
        <p:spPr>
          <a:xfrm>
            <a:off x="349857"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Performance Evaluation</a:t>
            </a:r>
            <a:endParaRPr lang="en-IN" dirty="0"/>
          </a:p>
        </p:txBody>
      </p:sp>
      <p:cxnSp>
        <p:nvCxnSpPr>
          <p:cNvPr id="31" name="Straight Arrow Connector 30">
            <a:extLst>
              <a:ext uri="{FF2B5EF4-FFF2-40B4-BE49-F238E27FC236}">
                <a16:creationId xmlns:a16="http://schemas.microsoft.com/office/drawing/2014/main" id="{E6D517BD-59A6-8C57-520D-E3679E6F905D}"/>
              </a:ext>
            </a:extLst>
          </p:cNvPr>
          <p:cNvCxnSpPr>
            <a:cxnSpLocks/>
            <a:stCxn id="29" idx="2"/>
            <a:endCxn id="35" idx="0"/>
          </p:cNvCxnSpPr>
          <p:nvPr/>
        </p:nvCxnSpPr>
        <p:spPr>
          <a:xfrm>
            <a:off x="1490870" y="4141318"/>
            <a:ext cx="0" cy="9849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Rectangle: Rounded Corners 34">
            <a:extLst>
              <a:ext uri="{FF2B5EF4-FFF2-40B4-BE49-F238E27FC236}">
                <a16:creationId xmlns:a16="http://schemas.microsoft.com/office/drawing/2014/main" id="{67DAA992-E32B-E382-FF15-D8FC5AB44279}"/>
              </a:ext>
            </a:extLst>
          </p:cNvPr>
          <p:cNvSpPr/>
          <p:nvPr/>
        </p:nvSpPr>
        <p:spPr>
          <a:xfrm>
            <a:off x="349857" y="5126265"/>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Conclusion</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3856D31-3C76-7ED7-886A-E815BD487B9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1652F456-53A1-524F-FCB3-C68F5ED652D3}"/>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Preprocessing</a:t>
            </a:r>
            <a:endParaRPr dirty="0"/>
          </a:p>
        </p:txBody>
      </p:sp>
      <p:sp>
        <p:nvSpPr>
          <p:cNvPr id="140" name="Google Shape;140;p7">
            <a:extLst>
              <a:ext uri="{FF2B5EF4-FFF2-40B4-BE49-F238E27FC236}">
                <a16:creationId xmlns:a16="http://schemas.microsoft.com/office/drawing/2014/main" id="{4B822275-6765-8C71-DDE6-37823FCA02D7}"/>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t>The </a:t>
            </a:r>
            <a:r>
              <a:rPr lang="en-US" b="1" dirty="0"/>
              <a:t>MNIST dataset</a:t>
            </a:r>
            <a:r>
              <a:rPr lang="en-US" dirty="0"/>
              <a:t> was loaded and </a:t>
            </a:r>
            <a:r>
              <a:rPr lang="en-US" b="1" dirty="0"/>
              <a:t>split into five binary classification tasks</a:t>
            </a:r>
            <a:r>
              <a:rPr lang="en-US" dirty="0"/>
              <a:t> (Split-MNIST) for continual learning experiments.</a:t>
            </a:r>
            <a:endParaRPr dirty="0"/>
          </a:p>
        </p:txBody>
      </p:sp>
      <p:sp>
        <p:nvSpPr>
          <p:cNvPr id="141" name="Google Shape;141;p7">
            <a:extLst>
              <a:ext uri="{FF2B5EF4-FFF2-40B4-BE49-F238E27FC236}">
                <a16:creationId xmlns:a16="http://schemas.microsoft.com/office/drawing/2014/main" id="{9425ADF3-222F-994D-1326-90BAFCCFA70E}"/>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42" name="Google Shape;142;p7">
            <a:extLst>
              <a:ext uri="{FF2B5EF4-FFF2-40B4-BE49-F238E27FC236}">
                <a16:creationId xmlns:a16="http://schemas.microsoft.com/office/drawing/2014/main" id="{F8BD72AC-DAA5-C232-9015-87012BDFF93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5" name="Picture 4">
            <a:extLst>
              <a:ext uri="{FF2B5EF4-FFF2-40B4-BE49-F238E27FC236}">
                <a16:creationId xmlns:a16="http://schemas.microsoft.com/office/drawing/2014/main" id="{1C3C0D45-4C24-2CCF-5F2E-026D6F58DCBC}"/>
              </a:ext>
            </a:extLst>
          </p:cNvPr>
          <p:cNvPicPr>
            <a:picLocks noChangeAspect="1"/>
          </p:cNvPicPr>
          <p:nvPr/>
        </p:nvPicPr>
        <p:blipFill>
          <a:blip r:embed="rId3"/>
          <a:stretch>
            <a:fillRect/>
          </a:stretch>
        </p:blipFill>
        <p:spPr>
          <a:xfrm>
            <a:off x="2333100" y="2965784"/>
            <a:ext cx="7525800" cy="2200582"/>
          </a:xfrm>
          <a:prstGeom prst="rect">
            <a:avLst/>
          </a:prstGeom>
        </p:spPr>
      </p:pic>
    </p:spTree>
    <p:extLst>
      <p:ext uri="{BB962C8B-B14F-4D97-AF65-F5344CB8AC3E}">
        <p14:creationId xmlns:p14="http://schemas.microsoft.com/office/powerpoint/2010/main" val="272860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6B6FD08-DD38-7AD2-81B3-3030B6D5FD6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CFFC388A-F016-11BF-42D7-6E91A0FB0168}"/>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a:t>
            </a:r>
            <a:endParaRPr dirty="0"/>
          </a:p>
        </p:txBody>
      </p:sp>
      <p:sp>
        <p:nvSpPr>
          <p:cNvPr id="141" name="Google Shape;141;p7">
            <a:extLst>
              <a:ext uri="{FF2B5EF4-FFF2-40B4-BE49-F238E27FC236}">
                <a16:creationId xmlns:a16="http://schemas.microsoft.com/office/drawing/2014/main" id="{9DB80556-1B5E-D25A-31C4-0A1496005DF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42" name="Google Shape;142;p7">
            <a:extLst>
              <a:ext uri="{FF2B5EF4-FFF2-40B4-BE49-F238E27FC236}">
                <a16:creationId xmlns:a16="http://schemas.microsoft.com/office/drawing/2014/main" id="{367C7DAE-66AF-53A3-FB5A-DC9B6FBD389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5" name="Picture 4">
            <a:extLst>
              <a:ext uri="{FF2B5EF4-FFF2-40B4-BE49-F238E27FC236}">
                <a16:creationId xmlns:a16="http://schemas.microsoft.com/office/drawing/2014/main" id="{C1A00F34-6847-D149-F56F-E5B8ADFF74B0}"/>
              </a:ext>
            </a:extLst>
          </p:cNvPr>
          <p:cNvPicPr>
            <a:picLocks noChangeAspect="1"/>
          </p:cNvPicPr>
          <p:nvPr/>
        </p:nvPicPr>
        <p:blipFill>
          <a:blip r:embed="rId3"/>
          <a:stretch>
            <a:fillRect/>
          </a:stretch>
        </p:blipFill>
        <p:spPr>
          <a:xfrm>
            <a:off x="718387" y="1352260"/>
            <a:ext cx="10755226" cy="4153480"/>
          </a:xfrm>
          <a:prstGeom prst="rect">
            <a:avLst/>
          </a:prstGeom>
        </p:spPr>
      </p:pic>
      <p:sp>
        <p:nvSpPr>
          <p:cNvPr id="6" name="TextBox 5">
            <a:extLst>
              <a:ext uri="{FF2B5EF4-FFF2-40B4-BE49-F238E27FC236}">
                <a16:creationId xmlns:a16="http://schemas.microsoft.com/office/drawing/2014/main" id="{8EA5E743-846C-EDB7-0F44-4FA099BEBBE1}"/>
              </a:ext>
            </a:extLst>
          </p:cNvPr>
          <p:cNvSpPr txBox="1"/>
          <p:nvPr/>
        </p:nvSpPr>
        <p:spPr>
          <a:xfrm>
            <a:off x="624449" y="5505740"/>
            <a:ext cx="10789257" cy="523220"/>
          </a:xfrm>
          <a:prstGeom prst="rect">
            <a:avLst/>
          </a:prstGeom>
          <a:noFill/>
        </p:spPr>
        <p:txBody>
          <a:bodyPr wrap="square" rtlCol="0">
            <a:spAutoFit/>
          </a:bodyPr>
          <a:lstStyle/>
          <a:p>
            <a:r>
              <a:rPr lang="en-US" dirty="0"/>
              <a:t>The plot shows the distribution of digit classes (0-9) in a training dataset, with each class having a relatively similar frequency, indicating a fairly balanced dataset.</a:t>
            </a:r>
            <a:endParaRPr lang="en-IN" dirty="0"/>
          </a:p>
        </p:txBody>
      </p:sp>
    </p:spTree>
    <p:extLst>
      <p:ext uri="{BB962C8B-B14F-4D97-AF65-F5344CB8AC3E}">
        <p14:creationId xmlns:p14="http://schemas.microsoft.com/office/powerpoint/2010/main" val="2573349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7953CBE-B991-FFBD-3A7F-E2DD428B2F5A}"/>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C9846D08-D583-7C2F-B4DA-09BF32E12E2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a:t>
            </a:r>
            <a:endParaRPr dirty="0"/>
          </a:p>
        </p:txBody>
      </p:sp>
      <p:sp>
        <p:nvSpPr>
          <p:cNvPr id="141" name="Google Shape;141;p7">
            <a:extLst>
              <a:ext uri="{FF2B5EF4-FFF2-40B4-BE49-F238E27FC236}">
                <a16:creationId xmlns:a16="http://schemas.microsoft.com/office/drawing/2014/main" id="{47FE1BC8-A343-4D21-FF1A-84CA8533724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42" name="Google Shape;142;p7">
            <a:extLst>
              <a:ext uri="{FF2B5EF4-FFF2-40B4-BE49-F238E27FC236}">
                <a16:creationId xmlns:a16="http://schemas.microsoft.com/office/drawing/2014/main" id="{A6C914B3-5C07-D3EC-3116-982E9575B9F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 name="TextBox 1">
            <a:extLst>
              <a:ext uri="{FF2B5EF4-FFF2-40B4-BE49-F238E27FC236}">
                <a16:creationId xmlns:a16="http://schemas.microsoft.com/office/drawing/2014/main" id="{30CDDA1E-1147-8D9E-A3F1-246BF6C4D369}"/>
              </a:ext>
            </a:extLst>
          </p:cNvPr>
          <p:cNvSpPr txBox="1"/>
          <p:nvPr/>
        </p:nvSpPr>
        <p:spPr>
          <a:xfrm>
            <a:off x="716943" y="5627960"/>
            <a:ext cx="10758114" cy="523220"/>
          </a:xfrm>
          <a:prstGeom prst="rect">
            <a:avLst/>
          </a:prstGeom>
          <a:noFill/>
        </p:spPr>
        <p:txBody>
          <a:bodyPr wrap="square" rtlCol="0">
            <a:spAutoFit/>
          </a:bodyPr>
          <a:lstStyle/>
          <a:p>
            <a:r>
              <a:rPr lang="en-US" dirty="0"/>
              <a:t>The pixel intensity distribution shows that MNIST consists primarily of </a:t>
            </a:r>
            <a:r>
              <a:rPr lang="en-US" b="1" dirty="0"/>
              <a:t>black background (0)</a:t>
            </a:r>
            <a:r>
              <a:rPr lang="en-US" dirty="0"/>
              <a:t> and </a:t>
            </a:r>
            <a:r>
              <a:rPr lang="en-US" b="1" dirty="0"/>
              <a:t>white handwritten strokes (1)</a:t>
            </a:r>
            <a:r>
              <a:rPr lang="en-US" dirty="0"/>
              <a:t>, with minimal mid-range values, ensuring the dataset does not need to be corrected for noise.</a:t>
            </a:r>
            <a:endParaRPr lang="en-IN" dirty="0"/>
          </a:p>
        </p:txBody>
      </p:sp>
      <p:pic>
        <p:nvPicPr>
          <p:cNvPr id="4" name="Picture 3">
            <a:extLst>
              <a:ext uri="{FF2B5EF4-FFF2-40B4-BE49-F238E27FC236}">
                <a16:creationId xmlns:a16="http://schemas.microsoft.com/office/drawing/2014/main" id="{AAB35AE2-9B3E-1EFF-206C-192C4F8508AA}"/>
              </a:ext>
            </a:extLst>
          </p:cNvPr>
          <p:cNvPicPr>
            <a:picLocks noChangeAspect="1"/>
          </p:cNvPicPr>
          <p:nvPr/>
        </p:nvPicPr>
        <p:blipFill>
          <a:blip r:embed="rId3"/>
          <a:stretch>
            <a:fillRect/>
          </a:stretch>
        </p:blipFill>
        <p:spPr>
          <a:xfrm>
            <a:off x="1873384" y="1381422"/>
            <a:ext cx="7363853" cy="4143953"/>
          </a:xfrm>
          <a:prstGeom prst="rect">
            <a:avLst/>
          </a:prstGeom>
        </p:spPr>
      </p:pic>
    </p:spTree>
    <p:extLst>
      <p:ext uri="{BB962C8B-B14F-4D97-AF65-F5344CB8AC3E}">
        <p14:creationId xmlns:p14="http://schemas.microsoft.com/office/powerpoint/2010/main" val="1981568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EDD6A26-50AE-9B5D-D22F-A89E7FE2424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F946FB79-8530-740C-41F7-EAA8FB05D493}"/>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a:t>
            </a:r>
            <a:endParaRPr dirty="0"/>
          </a:p>
        </p:txBody>
      </p:sp>
      <p:sp>
        <p:nvSpPr>
          <p:cNvPr id="141" name="Google Shape;141;p7">
            <a:extLst>
              <a:ext uri="{FF2B5EF4-FFF2-40B4-BE49-F238E27FC236}">
                <a16:creationId xmlns:a16="http://schemas.microsoft.com/office/drawing/2014/main" id="{1C7D77D7-2C4D-A786-54E0-7332F7884E40}"/>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42" name="Google Shape;142;p7">
            <a:extLst>
              <a:ext uri="{FF2B5EF4-FFF2-40B4-BE49-F238E27FC236}">
                <a16:creationId xmlns:a16="http://schemas.microsoft.com/office/drawing/2014/main" id="{F1B73F2B-396E-5C3E-AE3C-0DBE9A97A72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A10A24D3-E594-EC80-1F56-362491CD9ABC}"/>
              </a:ext>
            </a:extLst>
          </p:cNvPr>
          <p:cNvPicPr>
            <a:picLocks noChangeAspect="1"/>
          </p:cNvPicPr>
          <p:nvPr/>
        </p:nvPicPr>
        <p:blipFill>
          <a:blip r:embed="rId3"/>
          <a:stretch>
            <a:fillRect/>
          </a:stretch>
        </p:blipFill>
        <p:spPr>
          <a:xfrm>
            <a:off x="556590" y="1447689"/>
            <a:ext cx="6742707" cy="4446225"/>
          </a:xfrm>
          <a:prstGeom prst="rect">
            <a:avLst/>
          </a:prstGeom>
        </p:spPr>
      </p:pic>
      <p:sp>
        <p:nvSpPr>
          <p:cNvPr id="4" name="TextBox 3">
            <a:extLst>
              <a:ext uri="{FF2B5EF4-FFF2-40B4-BE49-F238E27FC236}">
                <a16:creationId xmlns:a16="http://schemas.microsoft.com/office/drawing/2014/main" id="{28373F44-DE07-A903-4264-8DC52837CFD7}"/>
              </a:ext>
            </a:extLst>
          </p:cNvPr>
          <p:cNvSpPr txBox="1"/>
          <p:nvPr/>
        </p:nvSpPr>
        <p:spPr>
          <a:xfrm>
            <a:off x="7659757" y="2413337"/>
            <a:ext cx="3975653" cy="2031325"/>
          </a:xfrm>
          <a:prstGeom prst="rect">
            <a:avLst/>
          </a:prstGeom>
          <a:noFill/>
        </p:spPr>
        <p:txBody>
          <a:bodyPr wrap="square" rtlCol="0">
            <a:spAutoFit/>
          </a:bodyPr>
          <a:lstStyle/>
          <a:p>
            <a:r>
              <a:rPr lang="en-US" sz="1800" dirty="0"/>
              <a:t>The t-SNE plot reveals that while most digit classes form distinct clusters, some visually similar digits exhibit overlapping regions, suggesting that a simple classifier may not achieve high classification accuracy.</a:t>
            </a:r>
            <a:endParaRPr lang="en-IN" sz="1800" dirty="0"/>
          </a:p>
        </p:txBody>
      </p:sp>
    </p:spTree>
    <p:extLst>
      <p:ext uri="{BB962C8B-B14F-4D97-AF65-F5344CB8AC3E}">
        <p14:creationId xmlns:p14="http://schemas.microsoft.com/office/powerpoint/2010/main" val="311919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354EADE-DDC0-2941-F9DC-C2AF6A09C10B}"/>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0D26A36A-BEF0-3FA2-B183-F05E8D7A94FD}"/>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a:t>
            </a:r>
            <a:endParaRPr dirty="0"/>
          </a:p>
        </p:txBody>
      </p:sp>
      <p:sp>
        <p:nvSpPr>
          <p:cNvPr id="141" name="Google Shape;141;p7">
            <a:extLst>
              <a:ext uri="{FF2B5EF4-FFF2-40B4-BE49-F238E27FC236}">
                <a16:creationId xmlns:a16="http://schemas.microsoft.com/office/drawing/2014/main" id="{D16C0865-0624-4932-EC50-294E2BA327B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42" name="Google Shape;142;p7">
            <a:extLst>
              <a:ext uri="{FF2B5EF4-FFF2-40B4-BE49-F238E27FC236}">
                <a16:creationId xmlns:a16="http://schemas.microsoft.com/office/drawing/2014/main" id="{52F4EBC4-6650-FAD1-F6CF-2D0B8270802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3" name="Picture 2">
            <a:extLst>
              <a:ext uri="{FF2B5EF4-FFF2-40B4-BE49-F238E27FC236}">
                <a16:creationId xmlns:a16="http://schemas.microsoft.com/office/drawing/2014/main" id="{27B788B0-92D0-889C-E08D-7984E1CC2009}"/>
              </a:ext>
            </a:extLst>
          </p:cNvPr>
          <p:cNvPicPr>
            <a:picLocks noChangeAspect="1"/>
          </p:cNvPicPr>
          <p:nvPr/>
        </p:nvPicPr>
        <p:blipFill>
          <a:blip r:embed="rId3"/>
          <a:stretch>
            <a:fillRect/>
          </a:stretch>
        </p:blipFill>
        <p:spPr>
          <a:xfrm>
            <a:off x="1900312" y="1370875"/>
            <a:ext cx="7805563" cy="3730341"/>
          </a:xfrm>
          <a:prstGeom prst="rect">
            <a:avLst/>
          </a:prstGeom>
        </p:spPr>
      </p:pic>
      <p:sp>
        <p:nvSpPr>
          <p:cNvPr id="4" name="TextBox 3">
            <a:extLst>
              <a:ext uri="{FF2B5EF4-FFF2-40B4-BE49-F238E27FC236}">
                <a16:creationId xmlns:a16="http://schemas.microsoft.com/office/drawing/2014/main" id="{C22EA895-0691-3042-06DB-50DFF9CDF765}"/>
              </a:ext>
            </a:extLst>
          </p:cNvPr>
          <p:cNvSpPr txBox="1"/>
          <p:nvPr/>
        </p:nvSpPr>
        <p:spPr>
          <a:xfrm>
            <a:off x="838199" y="5273017"/>
            <a:ext cx="9983525" cy="523220"/>
          </a:xfrm>
          <a:prstGeom prst="rect">
            <a:avLst/>
          </a:prstGeom>
          <a:noFill/>
        </p:spPr>
        <p:txBody>
          <a:bodyPr wrap="square" rtlCol="0">
            <a:spAutoFit/>
          </a:bodyPr>
          <a:lstStyle/>
          <a:p>
            <a:r>
              <a:rPr lang="en-US" dirty="0"/>
              <a:t>This plot visualizes the variation in pixel intensity within each digit class. Digits like 4 and 7 show high variance due to differing handwriting styles, which could make them more challenging for models to classify accurately.</a:t>
            </a:r>
            <a:endParaRPr lang="en-IN" dirty="0"/>
          </a:p>
        </p:txBody>
      </p:sp>
    </p:spTree>
    <p:extLst>
      <p:ext uri="{BB962C8B-B14F-4D97-AF65-F5344CB8AC3E}">
        <p14:creationId xmlns:p14="http://schemas.microsoft.com/office/powerpoint/2010/main" val="2496576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Next Step of Research Focus</a:t>
            </a:r>
            <a:endParaRPr dirty="0"/>
          </a:p>
        </p:txBody>
      </p:sp>
      <p:sp>
        <p:nvSpPr>
          <p:cNvPr id="148" name="Google Shape;148;p8"/>
          <p:cNvSpPr txBox="1">
            <a:spLocks noGrp="1"/>
          </p:cNvSpPr>
          <p:nvPr>
            <p:ph type="body" idx="1"/>
          </p:nvPr>
        </p:nvSpPr>
        <p:spPr>
          <a:xfrm>
            <a:off x="607612" y="1539378"/>
            <a:ext cx="10515600" cy="2197735"/>
          </a:xfrm>
          <a:prstGeom prst="rect">
            <a:avLst/>
          </a:prstGeom>
          <a:noFill/>
          <a:ln>
            <a:noFill/>
          </a:ln>
        </p:spPr>
        <p:txBody>
          <a:bodyPr spcFirstLastPara="1" wrap="square" lIns="91425" tIns="45700" rIns="91425" bIns="45700" anchor="t" anchorCtr="0">
            <a:noAutofit/>
          </a:bodyPr>
          <a:lstStyle/>
          <a:p>
            <a:pPr rtl="0"/>
            <a:r>
              <a:rPr lang="en-IN" sz="2400" b="1" i="0" u="none" strike="noStrike" dirty="0">
                <a:solidFill>
                  <a:srgbClr val="000000"/>
                </a:solidFill>
                <a:effectLst/>
                <a:latin typeface="Arial" panose="020B0604020202020204" pitchFamily="34" charset="0"/>
              </a:rPr>
              <a:t>Baseline Forgetting Analysis</a:t>
            </a:r>
            <a:r>
              <a:rPr lang="en-IN" sz="2400" b="0" i="0" u="none" strike="noStrike" dirty="0">
                <a:solidFill>
                  <a:srgbClr val="000000"/>
                </a:solidFill>
                <a:effectLst/>
                <a:latin typeface="Arial" panose="020B0604020202020204" pitchFamily="34" charset="0"/>
              </a:rPr>
              <a:t> → Train a simple model with </a:t>
            </a:r>
            <a:r>
              <a:rPr lang="en-IN" sz="2400" b="1" i="0" u="none" strike="noStrike" dirty="0">
                <a:solidFill>
                  <a:srgbClr val="000000"/>
                </a:solidFill>
                <a:effectLst/>
                <a:latin typeface="Arial" panose="020B0604020202020204" pitchFamily="34" charset="0"/>
              </a:rPr>
              <a:t>Vanilla SGD</a:t>
            </a:r>
            <a:r>
              <a:rPr lang="en-IN" sz="2400" b="0" i="0" u="none" strike="noStrike" dirty="0">
                <a:solidFill>
                  <a:srgbClr val="000000"/>
                </a:solidFill>
                <a:effectLst/>
                <a:latin typeface="Arial" panose="020B0604020202020204" pitchFamily="34" charset="0"/>
              </a:rPr>
              <a:t> to observe catastrophic forgetting.</a:t>
            </a:r>
            <a:endParaRPr lang="en-IN" sz="2400" b="0" dirty="0">
              <a:effectLst/>
            </a:endParaRPr>
          </a:p>
          <a:p>
            <a:pPr rtl="0"/>
            <a:r>
              <a:rPr lang="en-IN" sz="2400" b="1" i="0" u="none" strike="noStrike" dirty="0">
                <a:solidFill>
                  <a:srgbClr val="000000"/>
                </a:solidFill>
                <a:effectLst/>
                <a:latin typeface="Arial" panose="020B0604020202020204" pitchFamily="34" charset="0"/>
              </a:rPr>
              <a:t>Implement Continual Learning Methods</a:t>
            </a:r>
            <a:r>
              <a:rPr lang="en-IN" sz="2400" b="0" i="0" u="none" strike="noStrike" dirty="0">
                <a:solidFill>
                  <a:srgbClr val="000000"/>
                </a:solidFill>
                <a:effectLst/>
                <a:latin typeface="Arial" panose="020B0604020202020204" pitchFamily="34" charset="0"/>
              </a:rPr>
              <a:t> → Apply </a:t>
            </a:r>
            <a:r>
              <a:rPr lang="en-IN" sz="2400" b="1" i="0" u="none" strike="noStrike" dirty="0">
                <a:solidFill>
                  <a:srgbClr val="000000"/>
                </a:solidFill>
                <a:effectLst/>
                <a:latin typeface="Arial" panose="020B0604020202020204" pitchFamily="34" charset="0"/>
              </a:rPr>
              <a:t>Regularization-Based (EWC, SI), Replay-Based (Experience Replay), and Task-Specific (</a:t>
            </a:r>
            <a:r>
              <a:rPr lang="en-IN" sz="2400" b="1" i="0" u="none" strike="noStrike" dirty="0" err="1">
                <a:solidFill>
                  <a:srgbClr val="000000"/>
                </a:solidFill>
                <a:effectLst/>
                <a:latin typeface="Arial" panose="020B0604020202020204" pitchFamily="34" charset="0"/>
              </a:rPr>
              <a:t>PackNet</a:t>
            </a:r>
            <a:r>
              <a:rPr lang="en-IN" sz="2400" b="1" i="0" u="none" strike="noStrike" dirty="0">
                <a:solidFill>
                  <a:srgbClr val="000000"/>
                </a:solidFill>
                <a:effectLst/>
                <a:latin typeface="Arial" panose="020B0604020202020204" pitchFamily="34" charset="0"/>
              </a:rPr>
              <a:t>) methods</a:t>
            </a:r>
            <a:r>
              <a:rPr lang="en-IN" sz="2400" b="0" i="0" u="none" strike="noStrike" dirty="0">
                <a:solidFill>
                  <a:srgbClr val="000000"/>
                </a:solidFill>
                <a:effectLst/>
                <a:latin typeface="Arial" panose="020B0604020202020204" pitchFamily="34" charset="0"/>
              </a:rPr>
              <a:t>.</a:t>
            </a:r>
            <a:endParaRPr lang="en-IN" sz="2400" b="0" dirty="0">
              <a:effectLst/>
            </a:endParaRPr>
          </a:p>
          <a:p>
            <a:pPr rtl="0"/>
            <a:r>
              <a:rPr lang="en-IN" sz="2400" b="1" i="0" u="none" strike="noStrike" dirty="0">
                <a:solidFill>
                  <a:srgbClr val="000000"/>
                </a:solidFill>
                <a:effectLst/>
                <a:latin typeface="Arial" panose="020B0604020202020204" pitchFamily="34" charset="0"/>
              </a:rPr>
              <a:t>Train Models Across Learning Scenarios</a:t>
            </a:r>
            <a:r>
              <a:rPr lang="en-IN" sz="2400" b="0" i="0" u="none" strike="noStrike" dirty="0">
                <a:solidFill>
                  <a:srgbClr val="000000"/>
                </a:solidFill>
                <a:effectLst/>
                <a:latin typeface="Arial" panose="020B0604020202020204" pitchFamily="34" charset="0"/>
              </a:rPr>
              <a:t> → Evaluate methods under </a:t>
            </a:r>
            <a:r>
              <a:rPr lang="en-IN" sz="2400" b="1" i="0" u="none" strike="noStrike" dirty="0">
                <a:solidFill>
                  <a:srgbClr val="000000"/>
                </a:solidFill>
                <a:effectLst/>
                <a:latin typeface="Arial" panose="020B0604020202020204" pitchFamily="34" charset="0"/>
              </a:rPr>
              <a:t>Task-IL, Domain-IL, and Class-IL</a:t>
            </a:r>
            <a:r>
              <a:rPr lang="en-IN" sz="2400" b="0" i="0" u="none" strike="noStrike" dirty="0">
                <a:solidFill>
                  <a:srgbClr val="000000"/>
                </a:solidFill>
                <a:effectLst/>
                <a:latin typeface="Arial" panose="020B0604020202020204" pitchFamily="34" charset="0"/>
              </a:rPr>
              <a:t> settings. </a:t>
            </a:r>
            <a:endParaRPr lang="en-IN" sz="2400" b="0" dirty="0">
              <a:effectLst/>
            </a:endParaRPr>
          </a:p>
        </p:txBody>
      </p:sp>
      <p:sp>
        <p:nvSpPr>
          <p:cNvPr id="149" name="Google Shape;14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50" name="Google Shape;15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Conclusion</a:t>
            </a:r>
            <a:endParaRPr/>
          </a:p>
        </p:txBody>
      </p:sp>
      <p:sp>
        <p:nvSpPr>
          <p:cNvPr id="156" name="Google Shape;15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rtl="0">
              <a:lnSpc>
                <a:spcPct val="90000"/>
              </a:lnSpc>
              <a:spcBef>
                <a:spcPts val="0"/>
              </a:spcBef>
              <a:spcAft>
                <a:spcPts val="0"/>
              </a:spcAft>
              <a:buClr>
                <a:schemeClr val="dk1"/>
              </a:buClr>
              <a:buSzPts val="2800"/>
              <a:buNone/>
            </a:pPr>
            <a:r>
              <a:rPr lang="en-US" dirty="0"/>
              <a:t>In conclusion, the data is prepared and ready for training neural network classifiers. The next step is to analyze the effects of catastrophic forgetting over time using Vanilla SGD before implementing mitigation techniques.</a:t>
            </a:r>
            <a:endParaRPr dirty="0"/>
          </a:p>
        </p:txBody>
      </p:sp>
      <p:sp>
        <p:nvSpPr>
          <p:cNvPr id="157" name="Google Shape;15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58" name="Google Shape;1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References : APA format</a:t>
            </a:r>
            <a:endParaRPr/>
          </a:p>
        </p:txBody>
      </p:sp>
      <p:sp>
        <p:nvSpPr>
          <p:cNvPr id="164" name="Google Shape;164;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55000" lnSpcReduction="20000"/>
          </a:bodyPr>
          <a:lstStyle/>
          <a:p>
            <a:r>
              <a:rPr lang="en-US" sz="2000" b="1" dirty="0">
                <a:latin typeface="Arial Narrow" panose="020B0606020202030204" pitchFamily="34" charset="0"/>
              </a:rPr>
              <a:t>Base Paper:</a:t>
            </a:r>
            <a:endParaRPr lang="en-IN" sz="2000" b="1" dirty="0">
              <a:latin typeface="Arial Narrow" panose="020B0606020202030204" pitchFamily="34" charset="0"/>
            </a:endParaRPr>
          </a:p>
          <a:p>
            <a:pPr lvl="1"/>
            <a:r>
              <a:rPr lang="en-IN" sz="2200" b="0" i="0" u="none" strike="noStrike" dirty="0">
                <a:solidFill>
                  <a:srgbClr val="000000"/>
                </a:solidFill>
                <a:effectLst/>
              </a:rPr>
              <a:t>Van de Ven, G. M., &amp; Tolias, A. S. (2019). </a:t>
            </a:r>
            <a:r>
              <a:rPr lang="en-IN" sz="2200" b="0" i="1" u="none" strike="noStrike" dirty="0">
                <a:solidFill>
                  <a:srgbClr val="000000"/>
                </a:solidFill>
                <a:effectLst/>
              </a:rPr>
              <a:t>Three scenarios for continual learning</a:t>
            </a:r>
            <a:r>
              <a:rPr lang="en-IN" sz="2200" b="0" i="0" u="none" strike="noStrike" dirty="0">
                <a:solidFill>
                  <a:srgbClr val="000000"/>
                </a:solidFill>
                <a:effectLst/>
              </a:rPr>
              <a:t>. </a:t>
            </a:r>
            <a:r>
              <a:rPr lang="en-IN" sz="2200" b="0" i="0" u="none" strike="noStrike" dirty="0" err="1">
                <a:solidFill>
                  <a:srgbClr val="000000"/>
                </a:solidFill>
                <a:effectLst/>
              </a:rPr>
              <a:t>arXiv</a:t>
            </a:r>
            <a:r>
              <a:rPr lang="en-IN" sz="2200" b="0" i="0" u="none" strike="noStrike" dirty="0">
                <a:solidFill>
                  <a:srgbClr val="000000"/>
                </a:solidFill>
                <a:effectLst/>
              </a:rPr>
              <a:t> preprint arXiv:1904.07734.</a:t>
            </a:r>
            <a:r>
              <a:rPr lang="en-IN" sz="2200" dirty="0"/>
              <a:t> </a:t>
            </a:r>
            <a:r>
              <a:rPr lang="en-IN" sz="2200" dirty="0">
                <a:hlinkClick r:id="rId3"/>
              </a:rPr>
              <a:t>https://doi.org/10.48550/arXiv.1904.07734</a:t>
            </a:r>
            <a:endParaRPr lang="en-IN" sz="2200" dirty="0"/>
          </a:p>
          <a:p>
            <a:pPr lvl="1"/>
            <a:r>
              <a:rPr lang="en-IN" sz="2200" b="0" dirty="0">
                <a:effectLst/>
                <a:hlinkClick r:id="rId4"/>
              </a:rPr>
              <a:t>Link to Paper</a:t>
            </a:r>
            <a:endParaRPr lang="en-IN" sz="2000" b="0" dirty="0">
              <a:effectLst/>
            </a:endParaRPr>
          </a:p>
          <a:p>
            <a:r>
              <a:rPr lang="en-IN" sz="2000" b="1" dirty="0">
                <a:latin typeface="Arial Narrow" panose="020B0606020202030204" pitchFamily="34" charset="0"/>
              </a:rPr>
              <a:t>Paper I:</a:t>
            </a:r>
          </a:p>
          <a:p>
            <a:pPr lvl="1"/>
            <a:r>
              <a:rPr lang="en-US" sz="2300" b="0" i="0" u="none" strike="noStrike" dirty="0">
                <a:solidFill>
                  <a:srgbClr val="000000"/>
                </a:solidFill>
                <a:effectLst/>
              </a:rPr>
              <a:t>Wang, L., Zhang, X., Su, H., &amp; Zhu, J. (2024). A comprehensive survey of continual learning: Theory, method and application.</a:t>
            </a:r>
            <a:r>
              <a:rPr lang="en-US" sz="2300" dirty="0"/>
              <a:t> </a:t>
            </a:r>
            <a:r>
              <a:rPr lang="en-US" sz="2300" b="0" i="1" u="none" strike="noStrike" dirty="0">
                <a:solidFill>
                  <a:srgbClr val="000000"/>
                </a:solidFill>
                <a:effectLst/>
              </a:rPr>
              <a:t>IEEE Transactions on Pattern Analysis and Machine Intelligence</a:t>
            </a:r>
            <a:r>
              <a:rPr lang="en-US" sz="2300" b="0" i="0" u="none" strike="noStrike" dirty="0">
                <a:solidFill>
                  <a:srgbClr val="000000"/>
                </a:solidFill>
                <a:effectLst/>
              </a:rPr>
              <a:t>, </a:t>
            </a:r>
            <a:r>
              <a:rPr lang="en-US" sz="2300" b="0" i="1" u="none" strike="noStrike" dirty="0">
                <a:solidFill>
                  <a:srgbClr val="000000"/>
                </a:solidFill>
                <a:effectLst/>
              </a:rPr>
              <a:t>46</a:t>
            </a:r>
            <a:r>
              <a:rPr lang="en-US" sz="2300" b="0" i="0" u="none" strike="noStrike" dirty="0">
                <a:solidFill>
                  <a:srgbClr val="000000"/>
                </a:solidFill>
                <a:effectLst/>
              </a:rPr>
              <a:t>(8), 5362-5383.</a:t>
            </a:r>
            <a:r>
              <a:rPr lang="en-US" sz="2300" b="0" i="0" u="none" strike="noStrike" dirty="0">
                <a:solidFill>
                  <a:srgbClr val="000000"/>
                </a:solidFill>
                <a:effectLst/>
                <a:hlinkClick r:id="rId5"/>
              </a:rPr>
              <a:t> </a:t>
            </a:r>
            <a:r>
              <a:rPr lang="en-US" sz="2300" b="0" i="0" u="sng" strike="noStrike" dirty="0">
                <a:solidFill>
                  <a:srgbClr val="1155CC"/>
                </a:solidFill>
                <a:effectLst/>
                <a:hlinkClick r:id="rId6"/>
              </a:rPr>
              <a:t>https://doi.org/10.1109/TPAMI.2024.3367329</a:t>
            </a:r>
            <a:endParaRPr lang="en-US" sz="2300" b="0" i="0" u="sng" strike="noStrike" dirty="0">
              <a:solidFill>
                <a:srgbClr val="1155CC"/>
              </a:solidFill>
              <a:effectLst/>
            </a:endParaRPr>
          </a:p>
          <a:p>
            <a:pPr lvl="1"/>
            <a:r>
              <a:rPr lang="en-US" sz="2300" dirty="0">
                <a:hlinkClick r:id="rId7"/>
              </a:rPr>
              <a:t>Link to Paper</a:t>
            </a:r>
            <a:endParaRPr lang="en-US" sz="2300" dirty="0"/>
          </a:p>
          <a:p>
            <a:r>
              <a:rPr lang="en-IN" sz="2000" b="1" dirty="0">
                <a:latin typeface="Arial Narrow" panose="020B0606020202030204" pitchFamily="34" charset="0"/>
              </a:rPr>
              <a:t>Paper II:</a:t>
            </a:r>
          </a:p>
          <a:p>
            <a:pPr lvl="1"/>
            <a:r>
              <a:rPr lang="en-IN" sz="2300" b="0" i="0" u="none" strike="noStrike" dirty="0">
                <a:solidFill>
                  <a:srgbClr val="000000"/>
                </a:solidFill>
                <a:effectLst/>
              </a:rPr>
              <a:t>De Lange, M., </a:t>
            </a:r>
            <a:r>
              <a:rPr lang="en-IN" sz="2300" b="0" i="0" u="none" strike="noStrike" dirty="0" err="1">
                <a:solidFill>
                  <a:srgbClr val="000000"/>
                </a:solidFill>
                <a:effectLst/>
              </a:rPr>
              <a:t>Aljundi</a:t>
            </a:r>
            <a:r>
              <a:rPr lang="en-IN" sz="2300" b="0" i="0" u="none" strike="noStrike" dirty="0">
                <a:solidFill>
                  <a:srgbClr val="000000"/>
                </a:solidFill>
                <a:effectLst/>
              </a:rPr>
              <a:t>, R., Masana, M., Parisot, S., Jia, X., </a:t>
            </a:r>
            <a:r>
              <a:rPr lang="en-IN" sz="2300" b="0" i="0" u="none" strike="noStrike" dirty="0" err="1">
                <a:solidFill>
                  <a:srgbClr val="000000"/>
                </a:solidFill>
                <a:effectLst/>
              </a:rPr>
              <a:t>Leonardis</a:t>
            </a:r>
            <a:r>
              <a:rPr lang="en-IN" sz="2300" b="0" i="0" u="none" strike="noStrike" dirty="0">
                <a:solidFill>
                  <a:srgbClr val="000000"/>
                </a:solidFill>
                <a:effectLst/>
              </a:rPr>
              <a:t>, A., Slabaugh, G., &amp; </a:t>
            </a:r>
            <a:r>
              <a:rPr lang="en-IN" sz="2300" b="0" i="0" u="none" strike="noStrike" dirty="0" err="1">
                <a:solidFill>
                  <a:srgbClr val="000000"/>
                </a:solidFill>
                <a:effectLst/>
              </a:rPr>
              <a:t>Tuytelaars</a:t>
            </a:r>
            <a:r>
              <a:rPr lang="en-IN" sz="2300" b="0" i="0" u="none" strike="noStrike" dirty="0">
                <a:solidFill>
                  <a:srgbClr val="000000"/>
                </a:solidFill>
                <a:effectLst/>
              </a:rPr>
              <a:t>, T. (2022). A continual learning survey: Defying forgetting in classification tasks. </a:t>
            </a:r>
            <a:r>
              <a:rPr lang="en-IN" sz="2300" b="0" i="1" u="none" strike="noStrike" dirty="0">
                <a:solidFill>
                  <a:srgbClr val="000000"/>
                </a:solidFill>
                <a:effectLst/>
              </a:rPr>
              <a:t>IEEE Transactions on Pattern Analysis and Machine Intelligence</a:t>
            </a:r>
            <a:r>
              <a:rPr lang="en-IN" sz="2300" b="0" i="0" u="none" strike="noStrike" dirty="0">
                <a:solidFill>
                  <a:srgbClr val="000000"/>
                </a:solidFill>
                <a:effectLst/>
              </a:rPr>
              <a:t>, </a:t>
            </a:r>
            <a:r>
              <a:rPr lang="en-IN" sz="2300" b="0" i="1" u="none" strike="noStrike" dirty="0">
                <a:solidFill>
                  <a:srgbClr val="000000"/>
                </a:solidFill>
                <a:effectLst/>
              </a:rPr>
              <a:t>44</a:t>
            </a:r>
            <a:r>
              <a:rPr lang="en-IN" sz="2300" b="0" i="0" u="none" strike="noStrike" dirty="0">
                <a:solidFill>
                  <a:srgbClr val="000000"/>
                </a:solidFill>
                <a:effectLst/>
              </a:rPr>
              <a:t>(7), 3366-3385.</a:t>
            </a:r>
            <a:r>
              <a:rPr lang="en-IN" sz="2300" dirty="0">
                <a:solidFill>
                  <a:srgbClr val="000000"/>
                </a:solidFill>
              </a:rPr>
              <a:t> </a:t>
            </a:r>
            <a:r>
              <a:rPr lang="en-IN" sz="2300" b="0" i="0" u="sng" strike="noStrike" dirty="0">
                <a:solidFill>
                  <a:srgbClr val="1155CC"/>
                </a:solidFill>
                <a:effectLst/>
                <a:hlinkClick r:id="rId8"/>
              </a:rPr>
              <a:t>https://doi.org/10.1109/TPAMI.2021.3057446</a:t>
            </a:r>
            <a:endParaRPr lang="en-IN" sz="2300" b="0" i="0" u="sng" strike="noStrike" dirty="0">
              <a:solidFill>
                <a:srgbClr val="1155CC"/>
              </a:solidFill>
              <a:effectLst/>
            </a:endParaRPr>
          </a:p>
          <a:p>
            <a:pPr lvl="1"/>
            <a:r>
              <a:rPr lang="en-IN" sz="2300" b="0" i="0" u="none" strike="noStrike" dirty="0">
                <a:solidFill>
                  <a:srgbClr val="000000"/>
                </a:solidFill>
                <a:effectLst/>
                <a:hlinkClick r:id="rId9"/>
              </a:rPr>
              <a:t>Link to Paper</a:t>
            </a:r>
            <a:endParaRPr lang="en-IN" sz="2300" b="0" i="0" u="sng" strike="noStrike" dirty="0">
              <a:solidFill>
                <a:srgbClr val="1155CC"/>
              </a:solidFill>
              <a:effectLst/>
            </a:endParaRPr>
          </a:p>
          <a:p>
            <a:r>
              <a:rPr lang="en-IN" sz="2000" b="1" dirty="0">
                <a:latin typeface="Arial Narrow" panose="020B0606020202030204" pitchFamily="34" charset="0"/>
              </a:rPr>
              <a:t>Paper III:</a:t>
            </a:r>
          </a:p>
          <a:p>
            <a:pPr lvl="1"/>
            <a:r>
              <a:rPr lang="en-US" sz="2300" b="0" i="0" u="none" strike="noStrike" dirty="0">
                <a:solidFill>
                  <a:srgbClr val="000000"/>
                </a:solidFill>
                <a:effectLst/>
              </a:rPr>
              <a:t>Lee, C. S., &amp; Lee, A. Y. (2020). Clinical applications of continual learning machine learning. </a:t>
            </a:r>
            <a:r>
              <a:rPr lang="en-US" sz="2300" b="0" i="1" u="none" strike="noStrike" dirty="0">
                <a:solidFill>
                  <a:srgbClr val="000000"/>
                </a:solidFill>
                <a:effectLst/>
              </a:rPr>
              <a:t>The Lancet Digital Health</a:t>
            </a:r>
            <a:r>
              <a:rPr lang="en-US" sz="2300" b="0" i="0" u="none" strike="noStrike" dirty="0">
                <a:solidFill>
                  <a:srgbClr val="000000"/>
                </a:solidFill>
                <a:effectLst/>
              </a:rPr>
              <a:t>, </a:t>
            </a:r>
            <a:r>
              <a:rPr lang="en-US" sz="2300" b="0" i="1" u="none" strike="noStrike" dirty="0">
                <a:solidFill>
                  <a:srgbClr val="000000"/>
                </a:solidFill>
                <a:effectLst/>
              </a:rPr>
              <a:t>2</a:t>
            </a:r>
            <a:r>
              <a:rPr lang="en-US" sz="2300" b="0" i="0" u="none" strike="noStrike" dirty="0">
                <a:solidFill>
                  <a:srgbClr val="000000"/>
                </a:solidFill>
                <a:effectLst/>
              </a:rPr>
              <a:t>(6), e279-e281. </a:t>
            </a:r>
            <a:r>
              <a:rPr lang="en-US" sz="2300" b="0" i="0" u="sng" strike="noStrike" dirty="0">
                <a:solidFill>
                  <a:srgbClr val="1155CC"/>
                </a:solidFill>
                <a:effectLst/>
                <a:hlinkClick r:id="rId10"/>
              </a:rPr>
              <a:t>https://doi.org/10.1016/S2589-7500(20)30102-3</a:t>
            </a:r>
            <a:endParaRPr lang="en-US" sz="2300" b="0" i="0" u="sng" strike="noStrike" dirty="0">
              <a:solidFill>
                <a:srgbClr val="1155CC"/>
              </a:solidFill>
              <a:effectLst/>
            </a:endParaRPr>
          </a:p>
          <a:p>
            <a:pPr lvl="1"/>
            <a:r>
              <a:rPr lang="en-US" sz="2300" b="0" i="0" u="none" strike="noStrike" dirty="0">
                <a:solidFill>
                  <a:srgbClr val="000000"/>
                </a:solidFill>
                <a:effectLst/>
                <a:hlinkClick r:id="rId11"/>
              </a:rPr>
              <a:t>Link to Paper</a:t>
            </a:r>
            <a:endParaRPr lang="en-IN" sz="2300" b="1" dirty="0"/>
          </a:p>
          <a:p>
            <a:r>
              <a:rPr lang="en-IN" sz="2000" b="1" dirty="0">
                <a:latin typeface="Arial Narrow" panose="020B0606020202030204" pitchFamily="34" charset="0"/>
              </a:rPr>
              <a:t>Paper IV:</a:t>
            </a:r>
          </a:p>
          <a:p>
            <a:pPr lvl="1"/>
            <a:r>
              <a:rPr lang="en-IN" sz="2200" b="0" i="0" u="none" strike="noStrike" dirty="0">
                <a:solidFill>
                  <a:srgbClr val="000000"/>
                </a:solidFill>
                <a:effectLst/>
              </a:rPr>
              <a:t>Chen, P. H., Wei, W., Hsieh, C.-j., &amp; Dai, B. (2021). Overcoming catastrophic forgetting by generative regularization. </a:t>
            </a:r>
            <a:r>
              <a:rPr lang="en-IN" sz="2200" b="0" i="0" u="none" strike="noStrike" dirty="0" err="1">
                <a:solidFill>
                  <a:srgbClr val="000000"/>
                </a:solidFill>
                <a:effectLst/>
              </a:rPr>
              <a:t>arXiv</a:t>
            </a:r>
            <a:r>
              <a:rPr lang="en-IN" sz="2200" b="0" i="0" u="none" strike="noStrike" dirty="0">
                <a:solidFill>
                  <a:srgbClr val="000000"/>
                </a:solidFill>
                <a:effectLst/>
              </a:rPr>
              <a:t> preprint arXiv:1912.01238.</a:t>
            </a:r>
            <a:r>
              <a:rPr lang="en-IN" sz="2200" dirty="0"/>
              <a:t> </a:t>
            </a:r>
            <a:r>
              <a:rPr lang="en-IN" sz="2200" b="0" i="0" u="sng" strike="noStrike" dirty="0">
                <a:solidFill>
                  <a:srgbClr val="1155CC"/>
                </a:solidFill>
                <a:effectLst/>
                <a:hlinkClick r:id="rId12"/>
              </a:rPr>
              <a:t>https://doi.org/10.48550/arXiv.1912.01238</a:t>
            </a:r>
            <a:endParaRPr lang="en-IN" sz="2200" b="0" i="0" u="sng" strike="noStrike" dirty="0">
              <a:solidFill>
                <a:srgbClr val="1155CC"/>
              </a:solidFill>
              <a:effectLst/>
            </a:endParaRPr>
          </a:p>
          <a:p>
            <a:pPr lvl="1"/>
            <a:r>
              <a:rPr lang="en-IN" sz="2200" dirty="0">
                <a:solidFill>
                  <a:srgbClr val="000000"/>
                </a:solidFill>
                <a:hlinkClick r:id="rId13"/>
              </a:rPr>
              <a:t>L</a:t>
            </a:r>
            <a:r>
              <a:rPr lang="en-IN" sz="2200" b="0" i="0" u="none" strike="noStrike" dirty="0">
                <a:solidFill>
                  <a:srgbClr val="000000"/>
                </a:solidFill>
                <a:effectLst/>
                <a:hlinkClick r:id="rId13"/>
              </a:rPr>
              <a:t>ink to Paper</a:t>
            </a:r>
            <a:endParaRPr lang="en-IN" sz="2200" b="0" dirty="0">
              <a:effectLst/>
            </a:endParaRPr>
          </a:p>
        </p:txBody>
      </p:sp>
      <p:sp>
        <p:nvSpPr>
          <p:cNvPr id="165" name="Google Shape;16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66" name="Google Shape;16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4020</TotalTime>
  <Words>1419</Words>
  <Application>Microsoft Office PowerPoint</Application>
  <PresentationFormat>Widescreen</PresentationFormat>
  <Paragraphs>130</Paragraphs>
  <Slides>16</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Calibri</vt:lpstr>
      <vt:lpstr>Arial Narrow</vt:lpstr>
      <vt:lpstr>Calibri Light</vt:lpstr>
      <vt:lpstr>Arial</vt:lpstr>
      <vt:lpstr>Office Theme</vt:lpstr>
      <vt:lpstr>1_Office Theme</vt:lpstr>
      <vt:lpstr>A Comparative Study of Methods for Mitigating Catastrophic Forgetting in Neural Networks Continual Learning </vt:lpstr>
      <vt:lpstr>Problem Statement</vt:lpstr>
      <vt:lpstr>Objectives</vt:lpstr>
      <vt:lpstr>Review of Related Literature</vt:lpstr>
      <vt:lpstr>Review of Related Literature</vt:lpstr>
      <vt:lpstr>Dataset</vt:lpstr>
      <vt:lpstr>Dataset</vt:lpstr>
      <vt:lpstr>Proposed Methodology</vt:lpstr>
      <vt:lpstr>Preprocessing</vt:lpstr>
      <vt:lpstr>Exploratory Data Analysis</vt:lpstr>
      <vt:lpstr>Exploratory Data Analysis</vt:lpstr>
      <vt:lpstr>Exploratory Data Analysis</vt:lpstr>
      <vt:lpstr>Exploratory Data Analysis</vt:lpstr>
      <vt:lpstr>Next Step of Research Focus</vt:lpstr>
      <vt:lpstr>Conclusion</vt:lpstr>
      <vt:lpstr>References : APA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  </dc:title>
  <dc:creator>Angay</dc:creator>
  <cp:lastModifiedBy>Aniket Shinde</cp:lastModifiedBy>
  <cp:revision>4</cp:revision>
  <dcterms:created xsi:type="dcterms:W3CDTF">2023-11-15T14:09:37Z</dcterms:created>
  <dcterms:modified xsi:type="dcterms:W3CDTF">2025-03-19T09:23:22Z</dcterms:modified>
</cp:coreProperties>
</file>