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358BF-5E3A-4811-B791-3537E5F14C31}" type="datetimeFigureOut">
              <a:rPr lang="en-IN" smtClean="0"/>
              <a:t>21-02-2025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1CF65-329B-4FC0-BD81-F7BF02420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527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FEE0-0CD7-45A5-A730-5EC8BDE0D8D9}" type="datetime1">
              <a:rPr lang="en-IN" smtClean="0"/>
              <a:t>21-02-2025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579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7DE58-FC96-420A-ACEA-15241A896A4C}" type="datetime1">
              <a:rPr lang="en-IN" smtClean="0"/>
              <a:t>21-02-2025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45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49E9C-B3B6-46FE-A568-B9D577388D42}" type="datetime1">
              <a:rPr lang="en-IN" smtClean="0"/>
              <a:t>21-02-2025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75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A508-102F-45DB-994A-FCDA0CAE14C8}" type="datetime1">
              <a:rPr lang="en-IN" smtClean="0"/>
              <a:t>21-02-2025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824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C774E-B8A2-4F5C-B5FA-D785A0C05A2E}" type="datetime1">
              <a:rPr lang="en-IN" smtClean="0"/>
              <a:t>21-02-2025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596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F70BE-0155-47E7-8509-A88648CCEC82}" type="datetime1">
              <a:rPr lang="en-IN" smtClean="0"/>
              <a:t>21-02-2025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63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DE71-85FA-4296-BD22-FA3717DCA8E2}" type="datetime1">
              <a:rPr lang="en-IN" smtClean="0"/>
              <a:t>21-02-2025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02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EEF0E-D1E3-413E-934B-8549D7D1A21A}" type="datetime1">
              <a:rPr lang="en-IN" smtClean="0"/>
              <a:t>21-02-2025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41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72768-1913-4B51-9959-F62F8ED684BE}" type="datetime1">
              <a:rPr lang="en-IN" smtClean="0"/>
              <a:t>21-02-2025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19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653BA-939B-4E91-B3F4-265E71AFADD6}" type="datetime1">
              <a:rPr lang="en-IN" smtClean="0"/>
              <a:t>21-02-2025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652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F933-5EA4-4E01-9CD8-F0B091D3891D}" type="datetime1">
              <a:rPr lang="en-IN" smtClean="0"/>
              <a:t>21-02-2025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64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838B7-DBF2-4351-ADC6-B01D4416F11D}" type="datetime1">
              <a:rPr lang="en-IN" smtClean="0"/>
              <a:t>21-02-2025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317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abstract/document/9349197" TargetMode="External"/><Relationship Id="rId3" Type="http://schemas.openxmlformats.org/officeDocument/2006/relationships/hyperlink" Target="https://arxiv.org/abs/1904.07734" TargetMode="External"/><Relationship Id="rId7" Type="http://schemas.openxmlformats.org/officeDocument/2006/relationships/hyperlink" Target="https://doi.org/10.1109/TPAMI.2021.3057446" TargetMode="External"/><Relationship Id="rId12" Type="http://schemas.openxmlformats.org/officeDocument/2006/relationships/hyperlink" Target="https://arxiv.org/abs/1912.01238" TargetMode="External"/><Relationship Id="rId2" Type="http://schemas.openxmlformats.org/officeDocument/2006/relationships/hyperlink" Target="https://doi.org/10.48550/arXiv.1904.0773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10444954" TargetMode="External"/><Relationship Id="rId11" Type="http://schemas.openxmlformats.org/officeDocument/2006/relationships/hyperlink" Target="https://doi.org/10.48550/arXiv.1912.01238" TargetMode="External"/><Relationship Id="rId5" Type="http://schemas.openxmlformats.org/officeDocument/2006/relationships/hyperlink" Target="https://doi.org/10.1109/TPAMI.2024.3367329" TargetMode="External"/><Relationship Id="rId10" Type="http://schemas.openxmlformats.org/officeDocument/2006/relationships/hyperlink" Target="https://www.thelancet.com/journals/landig/article/PIIS2589-7500(20)30102-3/fulltext" TargetMode="External"/><Relationship Id="rId4" Type="http://schemas.openxmlformats.org/officeDocument/2006/relationships/hyperlink" Target="https://www.google.com/search?q=https://doi.org/10.1109/TPAMI.2024.3367329" TargetMode="External"/><Relationship Id="rId9" Type="http://schemas.openxmlformats.org/officeDocument/2006/relationships/hyperlink" Target="https://doi.org/10.1016/S2589-7500(20)30102-3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47843"/>
            <a:ext cx="9144000" cy="4124194"/>
          </a:xfrm>
        </p:spPr>
        <p:txBody>
          <a:bodyPr/>
          <a:lstStyle/>
          <a:p>
            <a:r>
              <a:rPr lang="en-US" sz="4400" dirty="0">
                <a:latin typeface="Arial Narrow" panose="020B0606020202030204" pitchFamily="34" charset="0"/>
              </a:rPr>
              <a:t>A Comparative Study of Catastrophic Forgetting in Neural Networks</a:t>
            </a:r>
            <a:br>
              <a:rPr lang="en-US" dirty="0"/>
            </a:br>
            <a:r>
              <a:rPr lang="en-US" sz="3600" dirty="0">
                <a:latin typeface="Arial Narrow" panose="020B0606020202030204" pitchFamily="34" charset="0"/>
              </a:rPr>
              <a:t>Continual Learning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 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9548" y="4921173"/>
            <a:ext cx="10952813" cy="1655762"/>
          </a:xfrm>
        </p:spPr>
        <p:txBody>
          <a:bodyPr/>
          <a:lstStyle/>
          <a:p>
            <a:pPr algn="r"/>
            <a:r>
              <a:rPr lang="en-US" dirty="0">
                <a:latin typeface="Arial Narrow" panose="020B0606020202030204" pitchFamily="34" charset="0"/>
              </a:rPr>
              <a:t>24MSP3038</a:t>
            </a:r>
          </a:p>
          <a:p>
            <a:pPr algn="r"/>
            <a:r>
              <a:rPr lang="en-US" dirty="0">
                <a:latin typeface="Arial Narrow" panose="020B0606020202030204" pitchFamily="34" charset="0"/>
              </a:rPr>
              <a:t>Aniket Shinde</a:t>
            </a:r>
          </a:p>
          <a:p>
            <a:pPr algn="r"/>
            <a:r>
              <a:rPr lang="en-US" dirty="0">
                <a:latin typeface="Arial Narrow" panose="020B0606020202030204" pitchFamily="34" charset="0"/>
              </a:rPr>
              <a:t>20/02/2025</a:t>
            </a:r>
            <a:endParaRPr lang="en-IN" dirty="0">
              <a:latin typeface="Arial Narrow" panose="020B0606020202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68" y="0"/>
            <a:ext cx="7621064" cy="16956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27227" y="1816676"/>
            <a:ext cx="3507698" cy="58461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Arial Narrow" panose="020B0606020202030204" pitchFamily="34" charset="0"/>
              </a:rPr>
              <a:t>Zeroth Review</a:t>
            </a:r>
            <a:endParaRPr lang="en-IN" sz="3200" b="1" dirty="0">
              <a:latin typeface="Arial Narrow" panose="020B0606020202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9843" y="4781862"/>
            <a:ext cx="4916773" cy="179507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Arial Narrow" panose="020B0606020202030204" pitchFamily="34" charset="0"/>
              </a:rPr>
              <a:t>Course Code: </a:t>
            </a:r>
            <a:r>
              <a:rPr lang="en-US" dirty="0">
                <a:latin typeface="Arial Narrow" panose="020B0606020202030204" pitchFamily="34" charset="0"/>
              </a:rPr>
              <a:t>CS7510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Course Title:  </a:t>
            </a:r>
            <a:r>
              <a:rPr lang="en-US" dirty="0">
                <a:latin typeface="Arial Narrow" panose="020B0606020202030204" pitchFamily="34" charset="0"/>
              </a:rPr>
              <a:t>Project 2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>
                <a:latin typeface="Arial Narrow" panose="020B0606020202030204" pitchFamily="34" charset="0"/>
              </a:rPr>
              <a:t>CS7501 Project I , PGP, ICER, VIT Bangalore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7700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528763" algn="l"/>
              </a:tabLst>
            </a:pPr>
            <a:r>
              <a:rPr lang="en-US" b="1" dirty="0">
                <a:latin typeface="Arial Narrow" panose="020B0606020202030204" pitchFamily="34" charset="0"/>
              </a:rPr>
              <a:t>Problem Statement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Neural networks suffer from </a:t>
            </a:r>
            <a:r>
              <a:rPr lang="en-US" b="1" dirty="0"/>
              <a:t>catastrophic forgetting</a:t>
            </a:r>
            <a:r>
              <a:rPr lang="en-US" dirty="0"/>
              <a:t>, where learning new tasks leads to the loss of previously acquired knowledge. This project aims to compare different techniques for mitigating catastrophic forgetting, including </a:t>
            </a:r>
            <a:r>
              <a:rPr lang="en-US" b="1" dirty="0"/>
              <a:t>Regularization-Based Methods</a:t>
            </a:r>
            <a:r>
              <a:rPr lang="en-US" dirty="0"/>
              <a:t> such as </a:t>
            </a:r>
            <a:r>
              <a:rPr lang="en-US" b="1" dirty="0"/>
              <a:t>Elastic Weight Consolidation (EWC)</a:t>
            </a:r>
            <a:r>
              <a:rPr lang="en-US" dirty="0"/>
              <a:t> and </a:t>
            </a:r>
            <a:r>
              <a:rPr lang="en-US" b="1" dirty="0"/>
              <a:t>Synaptic Intelligence (SI)</a:t>
            </a:r>
            <a:r>
              <a:rPr lang="en-US" dirty="0"/>
              <a:t>, </a:t>
            </a:r>
            <a:r>
              <a:rPr lang="en-US" b="1" dirty="0"/>
              <a:t>Replay-Based Methods</a:t>
            </a:r>
            <a:r>
              <a:rPr lang="en-US" dirty="0"/>
              <a:t> like </a:t>
            </a:r>
            <a:r>
              <a:rPr lang="en-US" b="1" dirty="0"/>
              <a:t>Experience Replay</a:t>
            </a:r>
            <a:r>
              <a:rPr lang="en-US" dirty="0"/>
              <a:t>, and </a:t>
            </a:r>
            <a:r>
              <a:rPr lang="en-US" b="1" dirty="0"/>
              <a:t>Task-Specific Methods</a:t>
            </a:r>
            <a:r>
              <a:rPr lang="en-US" dirty="0"/>
              <a:t> such as </a:t>
            </a:r>
            <a:r>
              <a:rPr lang="en-US" b="1" dirty="0" err="1"/>
              <a:t>XDg</a:t>
            </a:r>
            <a:r>
              <a:rPr lang="en-US" b="1" dirty="0"/>
              <a:t> (</a:t>
            </a:r>
            <a:r>
              <a:rPr lang="en-US" b="1" dirty="0" err="1"/>
              <a:t>eXperts</a:t>
            </a:r>
            <a:r>
              <a:rPr lang="en-US" b="1" dirty="0"/>
              <a:t>-Dedicated gating)</a:t>
            </a:r>
            <a:r>
              <a:rPr lang="en-US" dirty="0"/>
              <a:t>. The effectiveness of these approaches will be evaluated on the </a:t>
            </a:r>
            <a:r>
              <a:rPr lang="en-US" b="1" dirty="0"/>
              <a:t>Split-MNIST dataset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CS7501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404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Dataset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Source of the Dataset: </a:t>
            </a:r>
            <a:r>
              <a:rPr lang="en-IN" dirty="0">
                <a:latin typeface="Arial Narrow" panose="020B0606020202030204" pitchFamily="34" charset="0"/>
              </a:rPr>
              <a:t>Yann LeCun, Corinna Cortes, Christopher J.C. Burges. "The MNIST Database of handwritten digits". http://yann.lecun.com/exdb/mnist/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b="1" dirty="0">
                <a:latin typeface="Arial Narrow" panose="020B0606020202030204" pitchFamily="34" charset="0"/>
              </a:rPr>
              <a:t>No. of Observations: </a:t>
            </a:r>
            <a:r>
              <a:rPr lang="en-US" dirty="0">
                <a:latin typeface="Arial Narrow" panose="020B0606020202030204" pitchFamily="34" charset="0"/>
              </a:rPr>
              <a:t>Training Samples: 60,000</a:t>
            </a:r>
          </a:p>
          <a:p>
            <a:pPr marL="3200400" lvl="7" indent="0">
              <a:buNone/>
            </a:pPr>
            <a:r>
              <a:rPr lang="en-US" sz="2800" dirty="0">
                <a:latin typeface="Arial Narrow" panose="020B0606020202030204" pitchFamily="34" charset="0"/>
              </a:rPr>
              <a:t>Test Samples: 10,000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Column/Feature Details: </a:t>
            </a:r>
            <a:r>
              <a:rPr lang="en-US" dirty="0">
                <a:latin typeface="Arial Narrow" panose="020B0606020202030204" pitchFamily="34" charset="0"/>
              </a:rPr>
              <a:t>Input Shape: (1, 28, 28)</a:t>
            </a:r>
          </a:p>
          <a:p>
            <a:pPr marL="3657600" lvl="8" indent="0">
              <a:buNone/>
            </a:pPr>
            <a:r>
              <a:rPr lang="en-US" sz="2800" dirty="0">
                <a:latin typeface="Arial Narrow" panose="020B0606020202030204" pitchFamily="34" charset="0"/>
              </a:rPr>
              <a:t>No. of Classes: 10 (0-9 digits)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Screenshot of the dataset: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CS7501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472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64C35-1A7E-E3E4-B40F-1D188AED0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03D42-7536-149C-A1A9-C40FE0489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Dataset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C0AC5-70AD-4C1B-04F3-7DA9249A8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Screenshot of the dataset: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CB0BC-CB21-3F49-0311-6D2F91622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CS7501 Project I PGP, ICER, VIT Bangalore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53FAE-B45F-4286-D09C-E231EF803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4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198782-B156-DDFF-5CA1-DC4F8E877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113" y="844060"/>
            <a:ext cx="5325047" cy="542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56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Review of Related Literature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CS7501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5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FF51514-4F4E-EF21-3DF6-D34E56CB3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000" b="1" dirty="0">
                <a:latin typeface="Arial Narrow" panose="020B0606020202030204" pitchFamily="34" charset="0"/>
              </a:rPr>
              <a:t>Base Paper:</a:t>
            </a:r>
            <a:endParaRPr lang="en-IN" sz="2000" b="1" dirty="0">
              <a:latin typeface="Arial Narrow" panose="020B0606020202030204" pitchFamily="34" charset="0"/>
            </a:endParaRPr>
          </a:p>
          <a:p>
            <a:pPr lvl="1"/>
            <a:r>
              <a:rPr lang="en-IN" sz="2200" b="0" i="0" u="none" strike="noStrike" dirty="0">
                <a:solidFill>
                  <a:srgbClr val="000000"/>
                </a:solidFill>
                <a:effectLst/>
              </a:rPr>
              <a:t>Van de Ven, G. M., &amp; Tolias, A. S. (2019). </a:t>
            </a:r>
            <a:r>
              <a:rPr lang="en-IN" sz="2200" b="0" i="1" u="none" strike="noStrike" dirty="0">
                <a:solidFill>
                  <a:srgbClr val="000000"/>
                </a:solidFill>
                <a:effectLst/>
              </a:rPr>
              <a:t>Three scenarios for continual learning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</a:rPr>
              <a:t>. </a:t>
            </a:r>
            <a:r>
              <a:rPr lang="en-IN" sz="2200" b="0" i="0" u="none" strike="noStrike" dirty="0" err="1">
                <a:solidFill>
                  <a:srgbClr val="000000"/>
                </a:solidFill>
                <a:effectLst/>
              </a:rPr>
              <a:t>arXiv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</a:rPr>
              <a:t> preprint arXiv:1904.07734.</a:t>
            </a:r>
            <a:r>
              <a:rPr lang="en-IN" sz="2200" dirty="0"/>
              <a:t> </a:t>
            </a:r>
            <a:r>
              <a:rPr lang="en-IN" sz="2200" dirty="0">
                <a:hlinkClick r:id="rId2"/>
              </a:rPr>
              <a:t>https://doi.org/10.48550/arXiv.1904.07734</a:t>
            </a:r>
            <a:endParaRPr lang="en-IN" sz="2200" dirty="0"/>
          </a:p>
          <a:p>
            <a:pPr lvl="1"/>
            <a:r>
              <a:rPr lang="en-IN" sz="2200" b="0" dirty="0">
                <a:effectLst/>
                <a:hlinkClick r:id="rId3"/>
              </a:rPr>
              <a:t>Link to Paper</a:t>
            </a:r>
            <a:endParaRPr lang="en-IN" sz="2000" b="0" dirty="0">
              <a:effectLst/>
            </a:endParaRPr>
          </a:p>
          <a:p>
            <a:r>
              <a:rPr lang="en-IN" sz="2000" b="1" dirty="0">
                <a:latin typeface="Arial Narrow" panose="020B0606020202030204" pitchFamily="34" charset="0"/>
              </a:rPr>
              <a:t>Paper I:</a:t>
            </a:r>
          </a:p>
          <a:p>
            <a:pPr lvl="1"/>
            <a:r>
              <a:rPr lang="en-US" sz="2300" b="0" i="0" u="none" strike="noStrike" dirty="0">
                <a:solidFill>
                  <a:srgbClr val="000000"/>
                </a:solidFill>
                <a:effectLst/>
              </a:rPr>
              <a:t>Wang, L., Zhang, X., Su, H., &amp; Zhu, J. (2024). A comprehensive survey of continual learning: Theory, method and application.</a:t>
            </a:r>
            <a:r>
              <a:rPr lang="en-US" sz="2300" dirty="0"/>
              <a:t> </a:t>
            </a:r>
            <a:r>
              <a:rPr lang="en-US" sz="2300" b="0" i="1" u="none" strike="noStrike" dirty="0">
                <a:solidFill>
                  <a:srgbClr val="000000"/>
                </a:solidFill>
                <a:effectLst/>
              </a:rPr>
              <a:t>IEEE Transactions on Pattern Analysis and Machine Intelligence</a:t>
            </a:r>
            <a:r>
              <a:rPr lang="en-US" sz="23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US" sz="2300" b="0" i="1" u="none" strike="noStrike" dirty="0">
                <a:solidFill>
                  <a:srgbClr val="000000"/>
                </a:solidFill>
                <a:effectLst/>
              </a:rPr>
              <a:t>46</a:t>
            </a:r>
            <a:r>
              <a:rPr lang="en-US" sz="2300" b="0" i="0" u="none" strike="noStrike" dirty="0">
                <a:solidFill>
                  <a:srgbClr val="000000"/>
                </a:solidFill>
                <a:effectLst/>
              </a:rPr>
              <a:t>(8), 5362-5383.</a:t>
            </a:r>
            <a:r>
              <a:rPr lang="en-US" sz="2300" b="0" i="0" u="none" strike="noStrike" dirty="0">
                <a:solidFill>
                  <a:srgbClr val="000000"/>
                </a:solidFill>
                <a:effectLst/>
                <a:hlinkClick r:id="rId4"/>
              </a:rPr>
              <a:t> </a:t>
            </a:r>
            <a:r>
              <a:rPr lang="en-US" sz="2300" b="0" i="0" u="sng" strike="noStrike" dirty="0">
                <a:solidFill>
                  <a:srgbClr val="1155CC"/>
                </a:solidFill>
                <a:effectLst/>
                <a:hlinkClick r:id="rId5"/>
              </a:rPr>
              <a:t>https://doi.org/10.1109/TPAMI.2024.3367329</a:t>
            </a:r>
            <a:endParaRPr lang="en-US" sz="2300" b="0" i="0" u="sng" strike="noStrike" dirty="0">
              <a:solidFill>
                <a:srgbClr val="1155CC"/>
              </a:solidFill>
              <a:effectLst/>
            </a:endParaRPr>
          </a:p>
          <a:p>
            <a:pPr lvl="1"/>
            <a:r>
              <a:rPr lang="en-US" sz="2300" dirty="0">
                <a:hlinkClick r:id="rId6"/>
              </a:rPr>
              <a:t>Link to Paper</a:t>
            </a:r>
            <a:endParaRPr lang="en-US" sz="2300" dirty="0"/>
          </a:p>
          <a:p>
            <a:r>
              <a:rPr lang="en-IN" sz="2000" b="1" dirty="0">
                <a:latin typeface="Arial Narrow" panose="020B0606020202030204" pitchFamily="34" charset="0"/>
              </a:rPr>
              <a:t>Paper II:</a:t>
            </a:r>
          </a:p>
          <a:p>
            <a:pPr lvl="1"/>
            <a:r>
              <a:rPr lang="en-IN" sz="2300" b="0" i="0" u="none" strike="noStrike" dirty="0">
                <a:solidFill>
                  <a:srgbClr val="000000"/>
                </a:solidFill>
                <a:effectLst/>
              </a:rPr>
              <a:t>De Lange, M., </a:t>
            </a:r>
            <a:r>
              <a:rPr lang="en-IN" sz="2300" b="0" i="0" u="none" strike="noStrike" dirty="0" err="1">
                <a:solidFill>
                  <a:srgbClr val="000000"/>
                </a:solidFill>
                <a:effectLst/>
              </a:rPr>
              <a:t>Aljundi</a:t>
            </a:r>
            <a:r>
              <a:rPr lang="en-IN" sz="2300" b="0" i="0" u="none" strike="noStrike" dirty="0">
                <a:solidFill>
                  <a:srgbClr val="000000"/>
                </a:solidFill>
                <a:effectLst/>
              </a:rPr>
              <a:t>, R., Masana, M., Parisot, S., Jia, X., </a:t>
            </a:r>
            <a:r>
              <a:rPr lang="en-IN" sz="2300" b="0" i="0" u="none" strike="noStrike" dirty="0" err="1">
                <a:solidFill>
                  <a:srgbClr val="000000"/>
                </a:solidFill>
                <a:effectLst/>
              </a:rPr>
              <a:t>Leonardis</a:t>
            </a:r>
            <a:r>
              <a:rPr lang="en-IN" sz="2300" b="0" i="0" u="none" strike="noStrike" dirty="0">
                <a:solidFill>
                  <a:srgbClr val="000000"/>
                </a:solidFill>
                <a:effectLst/>
              </a:rPr>
              <a:t>, A., Slabaugh, G., &amp; </a:t>
            </a:r>
            <a:r>
              <a:rPr lang="en-IN" sz="2300" b="0" i="0" u="none" strike="noStrike" dirty="0" err="1">
                <a:solidFill>
                  <a:srgbClr val="000000"/>
                </a:solidFill>
                <a:effectLst/>
              </a:rPr>
              <a:t>Tuytelaars</a:t>
            </a:r>
            <a:r>
              <a:rPr lang="en-IN" sz="2300" b="0" i="0" u="none" strike="noStrike" dirty="0">
                <a:solidFill>
                  <a:srgbClr val="000000"/>
                </a:solidFill>
                <a:effectLst/>
              </a:rPr>
              <a:t>, T. (2022). A continual learning survey: Defying forgetting in classification tasks. </a:t>
            </a:r>
            <a:r>
              <a:rPr lang="en-IN" sz="2300" b="0" i="1" u="none" strike="noStrike" dirty="0">
                <a:solidFill>
                  <a:srgbClr val="000000"/>
                </a:solidFill>
                <a:effectLst/>
              </a:rPr>
              <a:t>IEEE Transactions on Pattern Analysis and Machine Intelligence</a:t>
            </a:r>
            <a:r>
              <a:rPr lang="en-IN" sz="23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IN" sz="2300" b="0" i="1" u="none" strike="noStrike" dirty="0">
                <a:solidFill>
                  <a:srgbClr val="000000"/>
                </a:solidFill>
                <a:effectLst/>
              </a:rPr>
              <a:t>44</a:t>
            </a:r>
            <a:r>
              <a:rPr lang="en-IN" sz="2300" b="0" i="0" u="none" strike="noStrike" dirty="0">
                <a:solidFill>
                  <a:srgbClr val="000000"/>
                </a:solidFill>
                <a:effectLst/>
              </a:rPr>
              <a:t>(7), 3366-3385.</a:t>
            </a:r>
            <a:r>
              <a:rPr lang="en-IN" sz="2300" dirty="0">
                <a:solidFill>
                  <a:srgbClr val="000000"/>
                </a:solidFill>
              </a:rPr>
              <a:t> </a:t>
            </a:r>
            <a:r>
              <a:rPr lang="en-IN" sz="2300" b="0" i="0" u="sng" strike="noStrike" dirty="0">
                <a:solidFill>
                  <a:srgbClr val="1155CC"/>
                </a:solidFill>
                <a:effectLst/>
                <a:hlinkClick r:id="rId7"/>
              </a:rPr>
              <a:t>https://doi.org/10.1109/TPAMI.2021.3057446</a:t>
            </a:r>
            <a:endParaRPr lang="en-IN" sz="2300" b="0" i="0" u="sng" strike="noStrike" dirty="0">
              <a:solidFill>
                <a:srgbClr val="1155CC"/>
              </a:solidFill>
              <a:effectLst/>
            </a:endParaRPr>
          </a:p>
          <a:p>
            <a:pPr lvl="1"/>
            <a:r>
              <a:rPr lang="en-IN" sz="2300" b="0" i="0" u="none" strike="noStrike" dirty="0">
                <a:solidFill>
                  <a:srgbClr val="000000"/>
                </a:solidFill>
                <a:effectLst/>
                <a:hlinkClick r:id="rId8"/>
              </a:rPr>
              <a:t>Link to Paper</a:t>
            </a:r>
            <a:endParaRPr lang="en-IN" sz="2300" b="0" i="0" u="sng" strike="noStrike" dirty="0">
              <a:solidFill>
                <a:srgbClr val="1155CC"/>
              </a:solidFill>
              <a:effectLst/>
            </a:endParaRPr>
          </a:p>
          <a:p>
            <a:r>
              <a:rPr lang="en-IN" sz="2000" b="1" dirty="0">
                <a:latin typeface="Arial Narrow" panose="020B0606020202030204" pitchFamily="34" charset="0"/>
              </a:rPr>
              <a:t>Paper III:</a:t>
            </a:r>
          </a:p>
          <a:p>
            <a:pPr lvl="1"/>
            <a:r>
              <a:rPr lang="en-US" sz="2300" b="0" i="0" u="none" strike="noStrike" dirty="0">
                <a:solidFill>
                  <a:srgbClr val="000000"/>
                </a:solidFill>
                <a:effectLst/>
              </a:rPr>
              <a:t>Lee, C. S., &amp; Lee, A. Y. (2020). Clinical applications of continual learning machine learning. </a:t>
            </a:r>
            <a:r>
              <a:rPr lang="en-US" sz="2300" b="0" i="1" u="none" strike="noStrike" dirty="0">
                <a:solidFill>
                  <a:srgbClr val="000000"/>
                </a:solidFill>
                <a:effectLst/>
              </a:rPr>
              <a:t>The Lancet Digital Health</a:t>
            </a:r>
            <a:r>
              <a:rPr lang="en-US" sz="23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US" sz="2300" b="0" i="1" u="none" strike="noStrike" dirty="0">
                <a:solidFill>
                  <a:srgbClr val="000000"/>
                </a:solidFill>
                <a:effectLst/>
              </a:rPr>
              <a:t>2</a:t>
            </a:r>
            <a:r>
              <a:rPr lang="en-US" sz="2300" b="0" i="0" u="none" strike="noStrike" dirty="0">
                <a:solidFill>
                  <a:srgbClr val="000000"/>
                </a:solidFill>
                <a:effectLst/>
              </a:rPr>
              <a:t>(6), e279-e281. </a:t>
            </a:r>
            <a:r>
              <a:rPr lang="en-US" sz="2300" b="0" i="0" u="sng" strike="noStrike" dirty="0">
                <a:solidFill>
                  <a:srgbClr val="1155CC"/>
                </a:solidFill>
                <a:effectLst/>
                <a:hlinkClick r:id="rId9"/>
              </a:rPr>
              <a:t>https://doi.org/10.1016/S2589-7500(20)30102-3</a:t>
            </a:r>
            <a:endParaRPr lang="en-US" sz="2300" b="0" i="0" u="sng" strike="noStrike" dirty="0">
              <a:solidFill>
                <a:srgbClr val="1155CC"/>
              </a:solidFill>
              <a:effectLst/>
            </a:endParaRPr>
          </a:p>
          <a:p>
            <a:pPr lvl="1"/>
            <a:r>
              <a:rPr lang="en-US" sz="2300" b="0" i="0" u="none" strike="noStrike" dirty="0">
                <a:solidFill>
                  <a:srgbClr val="000000"/>
                </a:solidFill>
                <a:effectLst/>
                <a:hlinkClick r:id="rId10"/>
              </a:rPr>
              <a:t>Link to Paper</a:t>
            </a:r>
            <a:endParaRPr lang="en-IN" sz="2300" b="1" dirty="0"/>
          </a:p>
          <a:p>
            <a:r>
              <a:rPr lang="en-IN" sz="2000" b="1" dirty="0">
                <a:latin typeface="Arial Narrow" panose="020B0606020202030204" pitchFamily="34" charset="0"/>
              </a:rPr>
              <a:t>Paper IV:</a:t>
            </a:r>
          </a:p>
          <a:p>
            <a:pPr lvl="1"/>
            <a:r>
              <a:rPr lang="en-IN" sz="2200" b="0" i="0" u="none" strike="noStrike" dirty="0">
                <a:solidFill>
                  <a:srgbClr val="000000"/>
                </a:solidFill>
                <a:effectLst/>
              </a:rPr>
              <a:t>Chen, P. H., Wei, W., Hsieh, C.-j., &amp; Dai, B. (2021). Overcoming catastrophic forgetting by generative regularization. </a:t>
            </a:r>
            <a:r>
              <a:rPr lang="en-IN" sz="2200" b="0" i="0" u="none" strike="noStrike" dirty="0" err="1">
                <a:solidFill>
                  <a:srgbClr val="000000"/>
                </a:solidFill>
                <a:effectLst/>
              </a:rPr>
              <a:t>arXiv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</a:rPr>
              <a:t> preprint arXiv:1912.01238.</a:t>
            </a:r>
            <a:r>
              <a:rPr lang="en-IN" sz="2200" dirty="0"/>
              <a:t> </a:t>
            </a:r>
            <a:r>
              <a:rPr lang="en-IN" sz="2200" b="0" i="0" u="sng" strike="noStrike" dirty="0">
                <a:solidFill>
                  <a:srgbClr val="1155CC"/>
                </a:solidFill>
                <a:effectLst/>
                <a:hlinkClick r:id="rId11"/>
              </a:rPr>
              <a:t>https://doi.org/10.48550/arXiv.1912.01238</a:t>
            </a:r>
            <a:endParaRPr lang="en-IN" sz="2200" b="0" i="0" u="sng" strike="noStrike" dirty="0">
              <a:solidFill>
                <a:srgbClr val="1155CC"/>
              </a:solidFill>
              <a:effectLst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hlinkClick r:id="rId12"/>
              </a:rPr>
              <a:t>L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hlinkClick r:id="rId12"/>
              </a:rPr>
              <a:t>ink to Paper</a:t>
            </a:r>
            <a:endParaRPr lang="en-IN" sz="2200" b="0" dirty="0">
              <a:effectLst/>
            </a:endParaRPr>
          </a:p>
          <a:p>
            <a:endParaRPr lang="en-US" sz="2000" b="0" i="0" u="sng" strike="noStrike" dirty="0">
              <a:solidFill>
                <a:srgbClr val="1155CC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34518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Impact of the Proposed Research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This study will provide a </a:t>
            </a:r>
            <a:r>
              <a:rPr lang="en-US" sz="2400" b="1" dirty="0"/>
              <a:t>comparative analysis of different catastrophic forgetting mitigation techniques</a:t>
            </a:r>
            <a:r>
              <a:rPr lang="en-US" sz="2400" dirty="0"/>
              <a:t>, helping to identify their strengths, weaknesses, and trade-offs. The findings will contribute to </a:t>
            </a:r>
            <a:r>
              <a:rPr lang="en-US" sz="2400" b="1" dirty="0"/>
              <a:t>better model selection for continual learning applications</a:t>
            </a:r>
            <a:r>
              <a:rPr lang="en-US" sz="2400" dirty="0"/>
              <a:t>, improving the reliability of neural networks in real-world scenarios such as </a:t>
            </a:r>
            <a:r>
              <a:rPr lang="en-US" sz="2400" b="1" dirty="0"/>
              <a:t>lifelong learning AI, autonomous systems, and evolving user preferences in recommender systems</a:t>
            </a:r>
            <a:r>
              <a:rPr lang="en-US" sz="2400" dirty="0"/>
              <a:t>.</a:t>
            </a:r>
            <a:endParaRPr lang="en-IN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CS7501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428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621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Narrow</vt:lpstr>
      <vt:lpstr>Calibri</vt:lpstr>
      <vt:lpstr>Calibri Light</vt:lpstr>
      <vt:lpstr>Office Theme</vt:lpstr>
      <vt:lpstr>A Comparative Study of Catastrophic Forgetting in Neural Networks Continual Learning  </vt:lpstr>
      <vt:lpstr>Problem Statement</vt:lpstr>
      <vt:lpstr>Dataset</vt:lpstr>
      <vt:lpstr>Dataset</vt:lpstr>
      <vt:lpstr>Review of Related Literature</vt:lpstr>
      <vt:lpstr>Impact of the Proposed Research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Domain:</dc:title>
  <dc:creator>Angay</dc:creator>
  <cp:lastModifiedBy>Aniket Shinde</cp:lastModifiedBy>
  <cp:revision>10</cp:revision>
  <dcterms:created xsi:type="dcterms:W3CDTF">2023-11-15T14:09:37Z</dcterms:created>
  <dcterms:modified xsi:type="dcterms:W3CDTF">2025-02-21T15:12:25Z</dcterms:modified>
</cp:coreProperties>
</file>