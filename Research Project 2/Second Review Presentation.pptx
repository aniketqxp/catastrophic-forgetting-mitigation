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67" r:id="rId3"/>
    <p:sldId id="268" r:id="rId4"/>
    <p:sldId id="272" r:id="rId5"/>
    <p:sldId id="257" r:id="rId6"/>
    <p:sldId id="261" r:id="rId7"/>
    <p:sldId id="259" r:id="rId8"/>
    <p:sldId id="276" r:id="rId9"/>
    <p:sldId id="275" r:id="rId10"/>
    <p:sldId id="273" r:id="rId11"/>
    <p:sldId id="274" r:id="rId12"/>
    <p:sldId id="263" r:id="rId13"/>
    <p:sldId id="277" r:id="rId14"/>
    <p:sldId id="278" r:id="rId15"/>
    <p:sldId id="279" r:id="rId16"/>
    <p:sldId id="271" r:id="rId17"/>
    <p:sldId id="265" r:id="rId18"/>
    <p:sldId id="264" r:id="rId19"/>
    <p:sldId id="26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98" d="100"/>
          <a:sy n="98" d="100"/>
        </p:scale>
        <p:origin x="110" y="1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9358BF-5E3A-4811-B791-3537E5F14C31}" type="datetimeFigureOut">
              <a:rPr lang="en-IN" smtClean="0"/>
              <a:t>17-03-2025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A1CF65-329B-4FC0-BD81-F7BF02420C6C}" type="slidenum">
              <a:rPr lang="en-IN" smtClean="0"/>
              <a:t>‹#›</a:t>
            </a:fld>
            <a:endParaRPr lang="en-IN"/>
          </a:p>
        </p:txBody>
      </p:sp>
    </p:spTree>
    <p:extLst>
      <p:ext uri="{BB962C8B-B14F-4D97-AF65-F5344CB8AC3E}">
        <p14:creationId xmlns:p14="http://schemas.microsoft.com/office/powerpoint/2010/main" val="5035275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Incremental Learning</a:t>
            </a:r>
          </a:p>
          <a:p>
            <a:pPr marL="0" lvl="0" indent="0" algn="l" rtl="0">
              <a:spcBef>
                <a:spcPts val="0"/>
              </a:spcBef>
              <a:spcAft>
                <a:spcPts val="0"/>
              </a:spcAft>
              <a:buNone/>
            </a:pPr>
            <a:r>
              <a:rPr lang="en-US" b="1" dirty="0"/>
              <a:t>Task-IL</a:t>
            </a:r>
            <a:r>
              <a:rPr lang="en-US" dirty="0"/>
              <a:t>: The model is </a:t>
            </a:r>
            <a:r>
              <a:rPr lang="en-US" b="1" dirty="0"/>
              <a:t>explicitly given task identity</a:t>
            </a:r>
            <a:r>
              <a:rPr lang="en-US" dirty="0"/>
              <a:t> and only classifies </a:t>
            </a:r>
            <a:r>
              <a:rPr lang="en-US" b="1" dirty="0"/>
              <a:t>among the classes for that specific task</a:t>
            </a:r>
            <a:r>
              <a:rPr lang="en-US" dirty="0"/>
              <a:t>. Each task is treated independently.</a:t>
            </a:r>
          </a:p>
          <a:p>
            <a:pPr marL="0" lvl="0" indent="0" algn="l" rtl="0">
              <a:spcBef>
                <a:spcPts val="0"/>
              </a:spcBef>
              <a:spcAft>
                <a:spcPts val="0"/>
              </a:spcAft>
              <a:buNone/>
            </a:pPr>
            <a:r>
              <a:rPr lang="en-US" b="1" dirty="0"/>
              <a:t>Domain-IL</a:t>
            </a:r>
            <a:r>
              <a:rPr lang="en-US" dirty="0"/>
              <a:t>: The model is </a:t>
            </a:r>
            <a:r>
              <a:rPr lang="en-US" b="1" dirty="0"/>
              <a:t>not given task identity</a:t>
            </a:r>
            <a:r>
              <a:rPr lang="en-US" dirty="0"/>
              <a:t> and must classify </a:t>
            </a:r>
            <a:r>
              <a:rPr lang="en-US" b="1" dirty="0"/>
              <a:t>from all possible classes</a:t>
            </a:r>
            <a:r>
              <a:rPr lang="en-US" dirty="0"/>
              <a:t> in each task. However, tasks </a:t>
            </a:r>
            <a:r>
              <a:rPr lang="en-US" b="1" dirty="0"/>
              <a:t>share the same label space</a:t>
            </a:r>
            <a:r>
              <a:rPr lang="en-US" dirty="0"/>
              <a:t>, differing only in input characteristics (e.g., rotation, noise, color, etc.).</a:t>
            </a:r>
          </a:p>
          <a:p>
            <a:pPr marL="0" lvl="0" indent="0" algn="l" rtl="0">
              <a:spcBef>
                <a:spcPts val="0"/>
              </a:spcBef>
              <a:spcAft>
                <a:spcPts val="0"/>
              </a:spcAft>
              <a:buNone/>
            </a:pPr>
            <a:r>
              <a:rPr lang="en-US" b="1" dirty="0"/>
              <a:t>Class-IL</a:t>
            </a:r>
            <a:r>
              <a:rPr lang="en-US" dirty="0"/>
              <a:t>: The model is </a:t>
            </a:r>
            <a:r>
              <a:rPr lang="en-US" b="1" dirty="0"/>
              <a:t>not given task identity</a:t>
            </a:r>
            <a:r>
              <a:rPr lang="en-US" dirty="0"/>
              <a:t> and must classify </a:t>
            </a:r>
            <a:r>
              <a:rPr lang="en-US" b="1" dirty="0"/>
              <a:t>from all classes seen up to that point</a:t>
            </a:r>
            <a:r>
              <a:rPr lang="en-US" dirty="0"/>
              <a:t> in a single unified output layer. Each task introduces new classes, and the model must integrate them into a growing classifier.</a:t>
            </a:r>
          </a:p>
        </p:txBody>
      </p:sp>
      <p:sp>
        <p:nvSpPr>
          <p:cNvPr id="113" name="Google Shape;11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Forgetting analysis using vanilla </a:t>
            </a:r>
            <a:r>
              <a:rPr lang="en-US" dirty="0" err="1"/>
              <a:t>sgd</a:t>
            </a:r>
            <a:r>
              <a:rPr lang="en-US" dirty="0"/>
              <a:t>, performance over time task-IL</a:t>
            </a:r>
          </a:p>
          <a:p>
            <a:pPr marL="0" lvl="0" indent="0" algn="l" rtl="0">
              <a:spcBef>
                <a:spcPts val="0"/>
              </a:spcBef>
              <a:spcAft>
                <a:spcPts val="0"/>
              </a:spcAft>
              <a:buNone/>
            </a:pPr>
            <a:r>
              <a:rPr lang="en-US" dirty="0"/>
              <a:t>Train models using methods on the two scenarios task il and class il</a:t>
            </a:r>
          </a:p>
        </p:txBody>
      </p:sp>
      <p:sp>
        <p:nvSpPr>
          <p:cNvPr id="129" name="Google Shape;12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974EFEE0-0CD7-45A5-A730-5EC8BDE0D8D9}" type="datetime1">
              <a:rPr lang="en-IN" smtClean="0"/>
              <a:t>17-03-2025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725795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2FB7DE58-FC96-420A-ACEA-15241A896A4C}" type="datetime1">
              <a:rPr lang="en-IN" smtClean="0"/>
              <a:t>17-03-2025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941452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2649E9C-B3B6-46FE-A568-B9D577388D42}" type="datetime1">
              <a:rPr lang="en-IN" smtClean="0"/>
              <a:t>17-03-2025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751758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323CA508-102F-45DB-994A-FCDA0CAE14C8}" type="datetime1">
              <a:rPr lang="en-IN" smtClean="0"/>
              <a:t>17-03-2025</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36824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2CC774E-B8A2-4F5C-B5FA-D785A0C05A2E}" type="datetime1">
              <a:rPr lang="en-IN" smtClean="0"/>
              <a:t>17-03-2025</a:t>
            </a:fld>
            <a:endParaRPr lang="en-IN"/>
          </a:p>
        </p:txBody>
      </p:sp>
      <p:sp>
        <p:nvSpPr>
          <p:cNvPr id="8" name="Footer Placeholder 7"/>
          <p:cNvSpPr>
            <a:spLocks noGrp="1"/>
          </p:cNvSpPr>
          <p:nvPr>
            <p:ph type="ftr" sz="quarter" idx="11"/>
          </p:nvPr>
        </p:nvSpPr>
        <p:spPr/>
        <p:txBody>
          <a:bodyPr/>
          <a:lstStyle/>
          <a:p>
            <a:r>
              <a:rPr lang="en-IN"/>
              <a:t>CS6501 Project I PGP, ICER, VIT Bangalore</a:t>
            </a:r>
          </a:p>
        </p:txBody>
      </p:sp>
      <p:sp>
        <p:nvSpPr>
          <p:cNvPr id="9" name="Slide Number Placeholder 8"/>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8555963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09F70BE-0155-47E7-8509-A88648CCEC82}" type="datetime1">
              <a:rPr lang="en-IN" smtClean="0"/>
              <a:t>17-03-2025</a:t>
            </a:fld>
            <a:endParaRPr lang="en-IN"/>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59563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D7DE71-85FA-4296-BD22-FA3717DCA8E2}" type="datetime1">
              <a:rPr lang="en-IN" smtClean="0"/>
              <a:t>17-03-2025</a:t>
            </a:fld>
            <a:endParaRPr lang="en-IN"/>
          </a:p>
        </p:txBody>
      </p:sp>
      <p:sp>
        <p:nvSpPr>
          <p:cNvPr id="3" name="Footer Placeholder 2"/>
          <p:cNvSpPr>
            <a:spLocks noGrp="1"/>
          </p:cNvSpPr>
          <p:nvPr>
            <p:ph type="ftr" sz="quarter" idx="11"/>
          </p:nvPr>
        </p:nvSpPr>
        <p:spPr/>
        <p:txBody>
          <a:bodyPr/>
          <a:lstStyle/>
          <a:p>
            <a:r>
              <a:rPr lang="en-IN"/>
              <a:t>CS6501 Project I PGP, ICER, VIT Bangalore</a:t>
            </a:r>
          </a:p>
        </p:txBody>
      </p:sp>
      <p:sp>
        <p:nvSpPr>
          <p:cNvPr id="4" name="Slide Number Placeholder 3"/>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212021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C2EEF0E-D1E3-413E-934B-8549D7D1A21A}" type="datetime1">
              <a:rPr lang="en-IN" smtClean="0"/>
              <a:t>17-03-2025</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531410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E472768-1913-4B51-9959-F62F8ED684BE}" type="datetime1">
              <a:rPr lang="en-IN" smtClean="0"/>
              <a:t>17-03-2025</a:t>
            </a:fld>
            <a:endParaRPr lang="en-IN"/>
          </a:p>
        </p:txBody>
      </p:sp>
      <p:sp>
        <p:nvSpPr>
          <p:cNvPr id="6" name="Footer Placeholder 5"/>
          <p:cNvSpPr>
            <a:spLocks noGrp="1"/>
          </p:cNvSpPr>
          <p:nvPr>
            <p:ph type="ftr" sz="quarter" idx="11"/>
          </p:nvPr>
        </p:nvSpPr>
        <p:spPr/>
        <p:txBody>
          <a:bodyPr/>
          <a:lstStyle/>
          <a:p>
            <a:r>
              <a:rPr lang="en-IN"/>
              <a:t>CS6501 Project I PGP, ICER, VIT Bangalore</a:t>
            </a:r>
          </a:p>
        </p:txBody>
      </p:sp>
      <p:sp>
        <p:nvSpPr>
          <p:cNvPr id="7" name="Slide Number Placeholder 6"/>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158196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14653BA-939B-4E91-B3F4-265E71AFADD6}" type="datetime1">
              <a:rPr lang="en-IN" smtClean="0"/>
              <a:t>17-03-2025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33276527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DACCF933-5EA4-4E01-9CD8-F0B091D3891D}" type="datetime1">
              <a:rPr lang="en-IN" smtClean="0"/>
              <a:t>17-03-2025</a:t>
            </a:fld>
            <a:endParaRPr lang="en-IN"/>
          </a:p>
        </p:txBody>
      </p:sp>
      <p:sp>
        <p:nvSpPr>
          <p:cNvPr id="5" name="Footer Placeholder 4"/>
          <p:cNvSpPr>
            <a:spLocks noGrp="1"/>
          </p:cNvSpPr>
          <p:nvPr>
            <p:ph type="ftr" sz="quarter" idx="11"/>
          </p:nvPr>
        </p:nvSpPr>
        <p:spPr/>
        <p:txBody>
          <a:bodyPr/>
          <a:lstStyle/>
          <a:p>
            <a:r>
              <a:rPr lang="en-IN"/>
              <a:t>CS6501 Project I PGP, ICER, VIT Bangalore</a:t>
            </a:r>
          </a:p>
        </p:txBody>
      </p:sp>
      <p:sp>
        <p:nvSpPr>
          <p:cNvPr id="6" name="Slide Number Placeholder 5"/>
          <p:cNvSpPr>
            <a:spLocks noGrp="1"/>
          </p:cNvSpPr>
          <p:nvPr>
            <p:ph type="sldNum" sz="quarter" idx="12"/>
          </p:nvPr>
        </p:nvSpPr>
        <p:spPr/>
        <p:txBody>
          <a:bodyPr/>
          <a:lstStyle/>
          <a:p>
            <a:fld id="{90EDC104-672A-4227-99C4-0E2CC007FDBA}" type="slidenum">
              <a:rPr lang="en-IN" smtClean="0"/>
              <a:t>‹#›</a:t>
            </a:fld>
            <a:endParaRPr lang="en-IN"/>
          </a:p>
        </p:txBody>
      </p:sp>
    </p:spTree>
    <p:extLst>
      <p:ext uri="{BB962C8B-B14F-4D97-AF65-F5344CB8AC3E}">
        <p14:creationId xmlns:p14="http://schemas.microsoft.com/office/powerpoint/2010/main" val="2394640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74838B7-DBF2-4351-ADC6-B01D4416F11D}" type="datetime1">
              <a:rPr lang="en-IN" smtClean="0"/>
              <a:t>17-03-2025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CS6501 Project I PGP, ICER, VIT Bangalore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0EDC104-672A-4227-99C4-0E2CC007FDBA}" type="slidenum">
              <a:rPr lang="en-IN" smtClean="0"/>
              <a:t>‹#›</a:t>
            </a:fld>
            <a:endParaRPr lang="en-IN"/>
          </a:p>
        </p:txBody>
      </p:sp>
    </p:spTree>
    <p:extLst>
      <p:ext uri="{BB962C8B-B14F-4D97-AF65-F5344CB8AC3E}">
        <p14:creationId xmlns:p14="http://schemas.microsoft.com/office/powerpoint/2010/main" val="371631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8" Type="http://schemas.openxmlformats.org/officeDocument/2006/relationships/hyperlink" Target="https://ieeexplore.ieee.org/abstract/document/9349197" TargetMode="External"/><Relationship Id="rId3" Type="http://schemas.openxmlformats.org/officeDocument/2006/relationships/hyperlink" Target="https://arxiv.org/abs/1904.07734" TargetMode="External"/><Relationship Id="rId7" Type="http://schemas.openxmlformats.org/officeDocument/2006/relationships/hyperlink" Target="https://doi.org/10.1109/TPAMI.2021.3057446" TargetMode="External"/><Relationship Id="rId12" Type="http://schemas.openxmlformats.org/officeDocument/2006/relationships/hyperlink" Target="https://arxiv.org/abs/1912.01238" TargetMode="External"/><Relationship Id="rId2" Type="http://schemas.openxmlformats.org/officeDocument/2006/relationships/hyperlink" Target="https://doi.org/10.48550/arXiv.1904.07734" TargetMode="External"/><Relationship Id="rId1" Type="http://schemas.openxmlformats.org/officeDocument/2006/relationships/slideLayout" Target="../slideLayouts/slideLayout2.xml"/><Relationship Id="rId6" Type="http://schemas.openxmlformats.org/officeDocument/2006/relationships/hyperlink" Target="https://ieeexplore.ieee.org/document/10444954" TargetMode="External"/><Relationship Id="rId11" Type="http://schemas.openxmlformats.org/officeDocument/2006/relationships/hyperlink" Target="https://doi.org/10.48550/arXiv.1912.01238" TargetMode="External"/><Relationship Id="rId5" Type="http://schemas.openxmlformats.org/officeDocument/2006/relationships/hyperlink" Target="https://doi.org/10.1109/TPAMI.2024.3367329" TargetMode="External"/><Relationship Id="rId10" Type="http://schemas.openxmlformats.org/officeDocument/2006/relationships/hyperlink" Target="https://www.thelancet.com/journals/landig/article/PIIS2589-7500(20)30102-3/fulltext" TargetMode="External"/><Relationship Id="rId4" Type="http://schemas.openxmlformats.org/officeDocument/2006/relationships/hyperlink" Target="https://www.google.com/search?q=https://doi.org/10.1109/TPAMI.2024.3367329" TargetMode="External"/><Relationship Id="rId9" Type="http://schemas.openxmlformats.org/officeDocument/2006/relationships/hyperlink" Target="https://doi.org/10.1016/S2589-7500(20)30102-3"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468" y="0"/>
            <a:ext cx="7621064" cy="1695687"/>
          </a:xfrm>
          <a:prstGeom prst="rect">
            <a:avLst/>
          </a:prstGeom>
        </p:spPr>
      </p:pic>
      <p:sp>
        <p:nvSpPr>
          <p:cNvPr id="5" name="Rectangle 4"/>
          <p:cNvSpPr/>
          <p:nvPr/>
        </p:nvSpPr>
        <p:spPr>
          <a:xfrm>
            <a:off x="4227227" y="1816676"/>
            <a:ext cx="3507698" cy="584616"/>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sz="3200" b="1" dirty="0">
                <a:latin typeface="Arial Narrow" panose="020B0606020202030204" pitchFamily="34" charset="0"/>
              </a:rPr>
              <a:t>Second Review</a:t>
            </a:r>
            <a:endParaRPr lang="en-IN" sz="3200" b="1" dirty="0">
              <a:latin typeface="Arial Narrow" panose="020B0606020202030204" pitchFamily="34" charset="0"/>
            </a:endParaRPr>
          </a:p>
        </p:txBody>
      </p:sp>
      <p:sp>
        <p:nvSpPr>
          <p:cNvPr id="6" name="Rectangle 5"/>
          <p:cNvSpPr/>
          <p:nvPr/>
        </p:nvSpPr>
        <p:spPr>
          <a:xfrm>
            <a:off x="239843" y="4781862"/>
            <a:ext cx="4916773" cy="1795073"/>
          </a:xfrm>
          <a:prstGeom prst="rect">
            <a:avLst/>
          </a:prstGeom>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r>
              <a:rPr lang="en-US" b="1" dirty="0">
                <a:latin typeface="Arial Narrow" panose="020B0606020202030204" pitchFamily="34" charset="0"/>
              </a:rPr>
              <a:t>Course Code: </a:t>
            </a:r>
            <a:r>
              <a:rPr lang="en-US" dirty="0">
                <a:latin typeface="Arial Narrow" panose="020B0606020202030204" pitchFamily="34" charset="0"/>
              </a:rPr>
              <a:t>CS7510</a:t>
            </a:r>
          </a:p>
          <a:p>
            <a:r>
              <a:rPr lang="en-US" b="1" dirty="0">
                <a:latin typeface="Arial Narrow" panose="020B0606020202030204" pitchFamily="34" charset="0"/>
              </a:rPr>
              <a:t>Course Title:  </a:t>
            </a:r>
            <a:r>
              <a:rPr lang="en-US" dirty="0">
                <a:latin typeface="Arial Narrow" panose="020B0606020202030204" pitchFamily="34" charset="0"/>
              </a:rPr>
              <a:t>Project 2</a:t>
            </a:r>
            <a:endParaRPr lang="en-IN" dirty="0">
              <a:latin typeface="Arial Narrow" panose="020B0606020202030204" pitchFamily="34" charset="0"/>
            </a:endParaRPr>
          </a:p>
        </p:txBody>
      </p:sp>
      <p:sp>
        <p:nvSpPr>
          <p:cNvPr id="7" name="Footer Placeholder 6"/>
          <p:cNvSpPr>
            <a:spLocks noGrp="1"/>
          </p:cNvSpPr>
          <p:nvPr>
            <p:ph type="ftr" sz="quarter" idx="11"/>
          </p:nvPr>
        </p:nvSpPr>
        <p:spPr/>
        <p:txBody>
          <a:bodyPr/>
          <a:lstStyle/>
          <a:p>
            <a:r>
              <a:rPr lang="en-IN" b="1" dirty="0">
                <a:latin typeface="Arial Narrow" panose="020B0606020202030204" pitchFamily="34" charset="0"/>
              </a:rPr>
              <a:t>CS6501 Project I , PGP, ICER, VIT Bangalore</a:t>
            </a:r>
          </a:p>
        </p:txBody>
      </p:sp>
      <p:sp>
        <p:nvSpPr>
          <p:cNvPr id="8" name="Slide Number Placeholder 7"/>
          <p:cNvSpPr>
            <a:spLocks noGrp="1"/>
          </p:cNvSpPr>
          <p:nvPr>
            <p:ph type="sldNum" sz="quarter" idx="12"/>
          </p:nvPr>
        </p:nvSpPr>
        <p:spPr/>
        <p:txBody>
          <a:bodyPr/>
          <a:lstStyle/>
          <a:p>
            <a:fld id="{90EDC104-672A-4227-99C4-0E2CC007FDBA}" type="slidenum">
              <a:rPr lang="en-IN" smtClean="0"/>
              <a:t>1</a:t>
            </a:fld>
            <a:endParaRPr lang="en-IN" dirty="0"/>
          </a:p>
        </p:txBody>
      </p:sp>
      <p:sp>
        <p:nvSpPr>
          <p:cNvPr id="12" name="Title 1">
            <a:extLst>
              <a:ext uri="{FF2B5EF4-FFF2-40B4-BE49-F238E27FC236}">
                <a16:creationId xmlns:a16="http://schemas.microsoft.com/office/drawing/2014/main" id="{623D5B8B-7A9A-B244-0D2F-E9D0BAF95E42}"/>
              </a:ext>
            </a:extLst>
          </p:cNvPr>
          <p:cNvSpPr>
            <a:spLocks noGrp="1"/>
          </p:cNvSpPr>
          <p:nvPr>
            <p:ph type="ctrTitle"/>
          </p:nvPr>
        </p:nvSpPr>
        <p:spPr>
          <a:xfrm>
            <a:off x="1524000" y="1309116"/>
            <a:ext cx="9144000" cy="3787293"/>
          </a:xfrm>
        </p:spPr>
        <p:txBody>
          <a:bodyPr/>
          <a:lstStyle/>
          <a:p>
            <a:r>
              <a:rPr lang="en-US" sz="4400" dirty="0">
                <a:latin typeface="Arial Narrow" panose="020B0606020202030204" pitchFamily="34" charset="0"/>
              </a:rPr>
              <a:t>A Comparative Study of Methods for Mitigating Catastrophic Forgetting in Neural Networks</a:t>
            </a:r>
            <a:br>
              <a:rPr lang="en-US" dirty="0"/>
            </a:br>
            <a:r>
              <a:rPr lang="en-US" sz="3600" dirty="0">
                <a:latin typeface="Arial Narrow" panose="020B0606020202030204" pitchFamily="34" charset="0"/>
              </a:rPr>
              <a:t>Continual Learning</a:t>
            </a:r>
            <a:r>
              <a:rPr lang="en-US" dirty="0">
                <a:latin typeface="Arial Narrow" panose="020B0606020202030204" pitchFamily="34" charset="0"/>
              </a:rPr>
              <a:t> </a:t>
            </a:r>
            <a:endParaRPr lang="en-IN" dirty="0">
              <a:latin typeface="Arial Narrow" panose="020B0606020202030204" pitchFamily="34" charset="0"/>
            </a:endParaRPr>
          </a:p>
        </p:txBody>
      </p:sp>
      <p:sp>
        <p:nvSpPr>
          <p:cNvPr id="15" name="Subtitle 2">
            <a:extLst>
              <a:ext uri="{FF2B5EF4-FFF2-40B4-BE49-F238E27FC236}">
                <a16:creationId xmlns:a16="http://schemas.microsoft.com/office/drawing/2014/main" id="{C75A307D-96D6-7728-D732-350C26AD07EC}"/>
              </a:ext>
            </a:extLst>
          </p:cNvPr>
          <p:cNvSpPr>
            <a:spLocks noGrp="1"/>
          </p:cNvSpPr>
          <p:nvPr>
            <p:ph type="subTitle" idx="1"/>
          </p:nvPr>
        </p:nvSpPr>
        <p:spPr>
          <a:xfrm>
            <a:off x="689548" y="4921173"/>
            <a:ext cx="10952813" cy="1655762"/>
          </a:xfrm>
        </p:spPr>
        <p:txBody>
          <a:bodyPr/>
          <a:lstStyle/>
          <a:p>
            <a:pPr algn="r"/>
            <a:r>
              <a:rPr lang="en-US" dirty="0">
                <a:latin typeface="Arial Narrow" panose="020B0606020202030204" pitchFamily="34" charset="0"/>
              </a:rPr>
              <a:t>24MSP3038</a:t>
            </a:r>
          </a:p>
          <a:p>
            <a:pPr algn="r"/>
            <a:r>
              <a:rPr lang="en-US" dirty="0">
                <a:latin typeface="Arial Narrow" panose="020B0606020202030204" pitchFamily="34" charset="0"/>
              </a:rPr>
              <a:t>Aniket Shinde</a:t>
            </a:r>
          </a:p>
          <a:p>
            <a:pPr algn="r"/>
            <a:r>
              <a:rPr lang="en-US" dirty="0">
                <a:latin typeface="Arial Narrow" panose="020B0606020202030204" pitchFamily="34" charset="0"/>
              </a:rPr>
              <a:t>10/03/2025</a:t>
            </a:r>
            <a:endParaRPr lang="en-IN" dirty="0">
              <a:latin typeface="Arial Narrow" panose="020B0606020202030204" pitchFamily="34" charset="0"/>
            </a:endParaRPr>
          </a:p>
        </p:txBody>
      </p:sp>
    </p:spTree>
    <p:extLst>
      <p:ext uri="{BB962C8B-B14F-4D97-AF65-F5344CB8AC3E}">
        <p14:creationId xmlns:p14="http://schemas.microsoft.com/office/powerpoint/2010/main" val="36977000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Abstract</a:t>
            </a:r>
            <a:endParaRPr lang="en-IN" b="1" dirty="0">
              <a:latin typeface="Arial Narrow" panose="020B0606020202030204" pitchFamily="34" charset="0"/>
            </a:endParaRPr>
          </a:p>
        </p:txBody>
      </p:sp>
      <p:sp>
        <p:nvSpPr>
          <p:cNvPr id="3" name="Content Placeholder 2"/>
          <p:cNvSpPr>
            <a:spLocks noGrp="1"/>
          </p:cNvSpPr>
          <p:nvPr>
            <p:ph idx="1"/>
          </p:nvPr>
        </p:nvSpPr>
        <p:spPr>
          <a:xfrm>
            <a:off x="593969" y="1406769"/>
            <a:ext cx="10759831" cy="4770194"/>
          </a:xfrm>
        </p:spPr>
        <p:txBody>
          <a:bodyPr>
            <a:normAutofit fontScale="92500"/>
          </a:bodyPr>
          <a:lstStyle/>
          <a:p>
            <a:pPr marL="0" indent="0">
              <a:buNone/>
            </a:pPr>
            <a:r>
              <a:rPr lang="en-US" dirty="0"/>
              <a:t>Neural networks experience </a:t>
            </a:r>
            <a:r>
              <a:rPr lang="en-US" b="1" dirty="0"/>
              <a:t>catastrophic forgetting</a:t>
            </a:r>
            <a:r>
              <a:rPr lang="en-US" dirty="0"/>
              <a:t>, where learning new tasks erases previously acquired knowledge. This project compares three approaches to mitigate this issue: </a:t>
            </a:r>
            <a:r>
              <a:rPr lang="en-US" b="1" dirty="0"/>
              <a:t>Regularization-Based Methods</a:t>
            </a:r>
            <a:r>
              <a:rPr lang="en-US" dirty="0"/>
              <a:t>, </a:t>
            </a:r>
            <a:r>
              <a:rPr lang="en-US" b="1" dirty="0"/>
              <a:t>Replay-Based Methods</a:t>
            </a:r>
            <a:r>
              <a:rPr lang="en-US" dirty="0"/>
              <a:t>, and </a:t>
            </a:r>
            <a:r>
              <a:rPr lang="en-US" b="1" dirty="0"/>
              <a:t>Architectural Methods</a:t>
            </a:r>
            <a:r>
              <a:rPr lang="en-US" dirty="0"/>
              <a:t>. Using the </a:t>
            </a:r>
            <a:r>
              <a:rPr lang="en-US" b="1" dirty="0"/>
              <a:t>Split-MNIST dataset</a:t>
            </a:r>
            <a:r>
              <a:rPr lang="en-US" dirty="0"/>
              <a:t>, we evaluate these techniques under </a:t>
            </a:r>
            <a:r>
              <a:rPr lang="en-US" b="1" dirty="0"/>
              <a:t>Task-Incremental Learning</a:t>
            </a:r>
            <a:r>
              <a:rPr lang="en-US" dirty="0"/>
              <a:t>, where task identity is provided, and </a:t>
            </a:r>
            <a:r>
              <a:rPr lang="en-US" b="1" dirty="0"/>
              <a:t>Class-Incremental Learning</a:t>
            </a:r>
            <a:r>
              <a:rPr lang="en-US" dirty="0"/>
              <a:t>, where the model must classify all seen classes without task labels. A </a:t>
            </a:r>
            <a:r>
              <a:rPr lang="en-US" b="1" dirty="0"/>
              <a:t>Vanilla Stochastic Gradient Descent (SGD) baseline</a:t>
            </a:r>
            <a:r>
              <a:rPr lang="en-US" dirty="0"/>
              <a:t> establishes the extent of forgetting, followed by experiments with the three mitigation techniques. Performance is measured using </a:t>
            </a:r>
            <a:r>
              <a:rPr lang="en-US" b="1" dirty="0"/>
              <a:t>accuracy retention, forgetting rate, and computational efficiency</a:t>
            </a:r>
            <a:r>
              <a:rPr lang="en-US" dirty="0"/>
              <a:t>. The results will highlight key trade-offs, showing which methods excels at which scenarios and struggle at which scenarios. This study offers insights into continual learning strategies and their effectiveness.</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2</a:t>
            </a:fld>
            <a:endParaRPr lang="en-IN"/>
          </a:p>
        </p:txBody>
      </p:sp>
    </p:spTree>
    <p:extLst>
      <p:ext uri="{BB962C8B-B14F-4D97-AF65-F5344CB8AC3E}">
        <p14:creationId xmlns:p14="http://schemas.microsoft.com/office/powerpoint/2010/main" val="9300095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Introduction</a:t>
            </a:r>
            <a:endParaRPr lang="en-IN" dirty="0">
              <a:latin typeface="Arial Narrow" panose="020B0606020202030204" pitchFamily="34" charset="0"/>
            </a:endParaRPr>
          </a:p>
        </p:txBody>
      </p:sp>
      <p:sp>
        <p:nvSpPr>
          <p:cNvPr id="3" name="Content Placeholder 2"/>
          <p:cNvSpPr>
            <a:spLocks noGrp="1"/>
          </p:cNvSpPr>
          <p:nvPr>
            <p:ph idx="1"/>
          </p:nvPr>
        </p:nvSpPr>
        <p:spPr/>
        <p:txBody>
          <a:bodyPr>
            <a:normAutofit fontScale="92500" lnSpcReduction="10000"/>
          </a:bodyPr>
          <a:lstStyle/>
          <a:p>
            <a:pPr marL="0" indent="0" algn="just">
              <a:buNone/>
            </a:pPr>
            <a:r>
              <a:rPr lang="en-US" dirty="0"/>
              <a:t>Catastrophic forgetting is a major challenge in </a:t>
            </a:r>
            <a:r>
              <a:rPr lang="en-US" b="1" dirty="0"/>
              <a:t>continual learning</a:t>
            </a:r>
            <a:r>
              <a:rPr lang="en-US" dirty="0"/>
              <a:t>, which is essential for developing </a:t>
            </a:r>
            <a:r>
              <a:rPr lang="en-US" b="1" dirty="0"/>
              <a:t>adaptable AI</a:t>
            </a:r>
            <a:r>
              <a:rPr lang="en-US" dirty="0"/>
              <a:t>. As AI systems increasingly need to learn from </a:t>
            </a:r>
            <a:r>
              <a:rPr lang="en-US" b="1" dirty="0"/>
              <a:t>sequential data streams</a:t>
            </a:r>
            <a:r>
              <a:rPr lang="en-US" dirty="0"/>
              <a:t>, this issue becomes especially critical for real-world applications like </a:t>
            </a:r>
            <a:r>
              <a:rPr lang="en-US" b="1" dirty="0"/>
              <a:t>autonomous systems</a:t>
            </a:r>
            <a:r>
              <a:rPr lang="en-US" dirty="0"/>
              <a:t> and </a:t>
            </a:r>
            <a:r>
              <a:rPr lang="en-US" b="1" dirty="0"/>
              <a:t>personalized AI</a:t>
            </a:r>
            <a:r>
              <a:rPr lang="en-US" dirty="0"/>
              <a:t>, where models must adapt over time </a:t>
            </a:r>
            <a:r>
              <a:rPr lang="en-US" b="1" dirty="0"/>
              <a:t>without forgetting</a:t>
            </a:r>
            <a:r>
              <a:rPr lang="en-US" dirty="0"/>
              <a:t>. Research has explored </a:t>
            </a:r>
            <a:r>
              <a:rPr lang="en-US" b="1" dirty="0"/>
              <a:t>Regularization</a:t>
            </a:r>
            <a:r>
              <a:rPr lang="en-US" dirty="0"/>
              <a:t>, </a:t>
            </a:r>
            <a:r>
              <a:rPr lang="en-US" b="1" dirty="0"/>
              <a:t>Replay</a:t>
            </a:r>
            <a:r>
              <a:rPr lang="en-US" dirty="0"/>
              <a:t>, and </a:t>
            </a:r>
            <a:r>
              <a:rPr lang="en-US" b="1" dirty="0"/>
              <a:t>Architectural methods</a:t>
            </a:r>
            <a:r>
              <a:rPr lang="en-US" dirty="0"/>
              <a:t> to mitigate forgetting, each with </a:t>
            </a:r>
            <a:r>
              <a:rPr lang="en-US" b="1" dirty="0"/>
              <a:t>strengths and limitations</a:t>
            </a:r>
            <a:r>
              <a:rPr lang="en-US" dirty="0"/>
              <a:t>. Our study provides a </a:t>
            </a:r>
            <a:r>
              <a:rPr lang="en-US" b="1" dirty="0"/>
              <a:t>comparative analysis</a:t>
            </a:r>
            <a:r>
              <a:rPr lang="en-US" dirty="0"/>
              <a:t> of these approaches using the </a:t>
            </a:r>
            <a:r>
              <a:rPr lang="en-US" b="1" dirty="0"/>
              <a:t>Split-MNIST dataset</a:t>
            </a:r>
            <a:r>
              <a:rPr lang="en-US" dirty="0"/>
              <a:t> in </a:t>
            </a:r>
            <a:r>
              <a:rPr lang="en-US" b="1" dirty="0"/>
              <a:t>Task-Incremental</a:t>
            </a:r>
            <a:r>
              <a:rPr lang="en-US" dirty="0"/>
              <a:t> and </a:t>
            </a:r>
            <a:r>
              <a:rPr lang="en-US" b="1" dirty="0"/>
              <a:t>Class-Incremental settings</a:t>
            </a:r>
            <a:r>
              <a:rPr lang="en-US" dirty="0"/>
              <a:t>. By evaluating </a:t>
            </a:r>
            <a:r>
              <a:rPr lang="en-US" b="1" dirty="0"/>
              <a:t>accuracy retention</a:t>
            </a:r>
            <a:r>
              <a:rPr lang="en-US" dirty="0"/>
              <a:t>, </a:t>
            </a:r>
            <a:r>
              <a:rPr lang="en-US" b="1" dirty="0"/>
              <a:t>forgetting rates</a:t>
            </a:r>
            <a:r>
              <a:rPr lang="en-US" dirty="0"/>
              <a:t>, and </a:t>
            </a:r>
            <a:r>
              <a:rPr lang="en-US" b="1" dirty="0"/>
              <a:t>computational efficiency</a:t>
            </a:r>
            <a:r>
              <a:rPr lang="en-US" dirty="0"/>
              <a:t>, we aim to clarify the </a:t>
            </a:r>
            <a:r>
              <a:rPr lang="en-US" b="1" dirty="0"/>
              <a:t>trade-offs</a:t>
            </a:r>
            <a:r>
              <a:rPr lang="en-US" dirty="0"/>
              <a:t> between these strategies, offering insights to guide the development of </a:t>
            </a:r>
            <a:r>
              <a:rPr lang="en-US" b="1" dirty="0"/>
              <a:t>more robust continual learning models</a:t>
            </a:r>
            <a:r>
              <a:rPr lang="en-US" dirty="0"/>
              <a:t>.</a:t>
            </a:r>
            <a:endParaRPr lang="en-IN" dirty="0">
              <a:solidFill>
                <a:srgbClr val="FF0000"/>
              </a:solidFill>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3</a:t>
            </a:fld>
            <a:endParaRPr lang="en-IN"/>
          </a:p>
        </p:txBody>
      </p:sp>
    </p:spTree>
    <p:extLst>
      <p:ext uri="{BB962C8B-B14F-4D97-AF65-F5344CB8AC3E}">
        <p14:creationId xmlns:p14="http://schemas.microsoft.com/office/powerpoint/2010/main" val="2565340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3328" y="320675"/>
            <a:ext cx="10515600" cy="1325563"/>
          </a:xfrm>
        </p:spPr>
        <p:txBody>
          <a:bodyPr/>
          <a:lstStyle/>
          <a:p>
            <a:r>
              <a:rPr lang="en-US" b="1" dirty="0">
                <a:latin typeface="Arial Narrow" panose="020B0606020202030204" pitchFamily="34" charset="0"/>
              </a:rPr>
              <a:t>Need of study</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pPr marL="0" indent="0">
              <a:buNone/>
            </a:pPr>
            <a:r>
              <a:rPr lang="en-US" dirty="0"/>
              <a:t>Continuous learning is vital for AI in dynamic environments, yet catastrophic forgetting hinders real-world applications like autonomous systems. To overcome this, models must efficiently integrate sequential data while retaining past knowledge. By focusing on Regularization, Replay, and Architectural methods, this research aims to identify their trade-offs, contributing to more robust and adaptable AI.</a:t>
            </a: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4</a:t>
            </a:fld>
            <a:endParaRPr lang="en-IN"/>
          </a:p>
        </p:txBody>
      </p:sp>
    </p:spTree>
    <p:extLst>
      <p:ext uri="{BB962C8B-B14F-4D97-AF65-F5344CB8AC3E}">
        <p14:creationId xmlns:p14="http://schemas.microsoft.com/office/powerpoint/2010/main" val="28842587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tabLst>
                <a:tab pos="1528763" algn="l"/>
              </a:tabLst>
            </a:pPr>
            <a:r>
              <a:rPr lang="en-US" b="1" dirty="0">
                <a:latin typeface="Arial Narrow" panose="020B0606020202030204" pitchFamily="34" charset="0"/>
              </a:rPr>
              <a:t>Problem Statement</a:t>
            </a:r>
            <a:endParaRPr lang="en-IN" b="1" dirty="0">
              <a:latin typeface="Arial Narrow" panose="020B0606020202030204" pitchFamily="34" charset="0"/>
            </a:endParaRPr>
          </a:p>
        </p:txBody>
      </p:sp>
      <p:sp>
        <p:nvSpPr>
          <p:cNvPr id="3" name="Content Placeholder 2"/>
          <p:cNvSpPr>
            <a:spLocks noGrp="1"/>
          </p:cNvSpPr>
          <p:nvPr>
            <p:ph idx="1"/>
          </p:nvPr>
        </p:nvSpPr>
        <p:spPr/>
        <p:txBody>
          <a:bodyPr/>
          <a:lstStyle/>
          <a:p>
            <a:pPr marL="0" indent="0">
              <a:buNone/>
            </a:pPr>
            <a:r>
              <a:rPr lang="en-US" dirty="0"/>
              <a:t>Neural networks suffer from </a:t>
            </a:r>
            <a:r>
              <a:rPr lang="en-US" b="1" dirty="0"/>
              <a:t>catastrophic forgetting</a:t>
            </a:r>
            <a:r>
              <a:rPr lang="en-US" dirty="0"/>
              <a:t>, where learning new tasks leads to the loss of previously acquired knowledge. This project aims to </a:t>
            </a:r>
            <a:r>
              <a:rPr lang="en-US" b="1" dirty="0"/>
              <a:t>analyze and compare different approaches</a:t>
            </a:r>
            <a:r>
              <a:rPr lang="en-US" dirty="0"/>
              <a:t> for mitigating catastrophic forgetting in </a:t>
            </a:r>
            <a:r>
              <a:rPr lang="en-US" b="1" dirty="0"/>
              <a:t>continual learning settings</a:t>
            </a:r>
            <a:r>
              <a:rPr lang="en-US" dirty="0"/>
              <a:t>. The study evaluates multiple techniques, including </a:t>
            </a:r>
            <a:r>
              <a:rPr lang="en-US" b="1" dirty="0"/>
              <a:t>regularization-based, replay-based, and architectural methods</a:t>
            </a:r>
            <a:r>
              <a:rPr lang="en-US" dirty="0"/>
              <a:t>, using the </a:t>
            </a:r>
            <a:r>
              <a:rPr lang="en-US" b="1" dirty="0"/>
              <a:t>Split-MNIST dataset</a:t>
            </a:r>
            <a:r>
              <a:rPr lang="en-US" dirty="0"/>
              <a:t> to assess their effectiveness in maintaining past knowledge while learning new tasks.</a:t>
            </a: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5</a:t>
            </a:fld>
            <a:endParaRPr lang="en-IN"/>
          </a:p>
        </p:txBody>
      </p:sp>
    </p:spTree>
    <p:extLst>
      <p:ext uri="{BB962C8B-B14F-4D97-AF65-F5344CB8AC3E}">
        <p14:creationId xmlns:p14="http://schemas.microsoft.com/office/powerpoint/2010/main" val="2898404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Narrow" panose="020B0606020202030204" pitchFamily="34" charset="0"/>
              </a:rPr>
              <a:t>Objectives</a:t>
            </a:r>
            <a:endParaRPr lang="en-IN" dirty="0">
              <a:latin typeface="Arial Narrow" panose="020B0606020202030204" pitchFamily="34" charset="0"/>
            </a:endParaRPr>
          </a:p>
        </p:txBody>
      </p:sp>
      <p:sp>
        <p:nvSpPr>
          <p:cNvPr id="3" name="Content Placeholder 2"/>
          <p:cNvSpPr>
            <a:spLocks noGrp="1"/>
          </p:cNvSpPr>
          <p:nvPr>
            <p:ph idx="1"/>
          </p:nvPr>
        </p:nvSpPr>
        <p:spPr/>
        <p:txBody>
          <a:bodyPr>
            <a:normAutofit fontScale="92500" lnSpcReduction="10000"/>
          </a:bodyPr>
          <a:lstStyle/>
          <a:p>
            <a:r>
              <a:rPr lang="en-US" b="1" dirty="0"/>
              <a:t>Focus of Study</a:t>
            </a:r>
            <a:br>
              <a:rPr lang="en-US" dirty="0"/>
            </a:br>
            <a:r>
              <a:rPr lang="en-US" sz="2400" dirty="0"/>
              <a:t>Comparing </a:t>
            </a:r>
            <a:r>
              <a:rPr lang="en-US" sz="2400" b="1" dirty="0"/>
              <a:t>Regularization-Based, Replay-Based, and Architectural methods</a:t>
            </a:r>
            <a:r>
              <a:rPr lang="en-US" sz="2400" dirty="0"/>
              <a:t> under </a:t>
            </a:r>
            <a:r>
              <a:rPr lang="en-US" sz="2400" b="1" dirty="0"/>
              <a:t>Task-IL and Class-IL</a:t>
            </a:r>
            <a:r>
              <a:rPr lang="en-US" sz="2400" dirty="0"/>
              <a:t> settings</a:t>
            </a:r>
          </a:p>
          <a:p>
            <a:r>
              <a:rPr lang="en-US" b="1" dirty="0"/>
              <a:t>Variables to Be Measured</a:t>
            </a:r>
            <a:endParaRPr lang="en-US" dirty="0"/>
          </a:p>
          <a:p>
            <a:pPr lvl="1"/>
            <a:r>
              <a:rPr lang="en-US" b="1" dirty="0"/>
              <a:t>Accuracy Retention, Forgetting Rate, Computational Efficiency</a:t>
            </a:r>
          </a:p>
          <a:p>
            <a:r>
              <a:rPr lang="en-US" b="1" dirty="0"/>
              <a:t>Steps to Be Involved</a:t>
            </a:r>
            <a:br>
              <a:rPr lang="en-US" dirty="0"/>
            </a:br>
            <a:r>
              <a:rPr lang="en-US" sz="2400" b="1" dirty="0"/>
              <a:t>Data Preparation, Exploratory Data Analysis (EDA), Forgetting Analysis,</a:t>
            </a:r>
            <a:r>
              <a:rPr lang="en-US" sz="2400" dirty="0"/>
              <a:t> </a:t>
            </a:r>
            <a:r>
              <a:rPr lang="en-US" sz="2400" b="1" dirty="0"/>
              <a:t>Model Implementation, Training Across Learning Scenarios, Performance Evaluation &amp; Comparison, Inference &amp; Conclusion</a:t>
            </a:r>
            <a:endParaRPr lang="en-US" sz="2400" dirty="0"/>
          </a:p>
          <a:p>
            <a:r>
              <a:rPr lang="en-US" b="1" dirty="0"/>
              <a:t>Limits of the Study</a:t>
            </a:r>
            <a:br>
              <a:rPr lang="en-US" dirty="0"/>
            </a:br>
            <a:r>
              <a:rPr lang="en-US" sz="2400" dirty="0"/>
              <a:t>This is a </a:t>
            </a:r>
            <a:r>
              <a:rPr lang="en-US" sz="2400" b="1" dirty="0"/>
              <a:t>comparative analysis</a:t>
            </a:r>
            <a:r>
              <a:rPr lang="en-US" sz="2400" dirty="0"/>
              <a:t> focused on </a:t>
            </a:r>
            <a:r>
              <a:rPr lang="en-US" sz="2400" b="1" dirty="0"/>
              <a:t>basic continual learning methods</a:t>
            </a:r>
            <a:r>
              <a:rPr lang="en-US" sz="2400" dirty="0"/>
              <a:t>. It does </a:t>
            </a:r>
            <a:r>
              <a:rPr lang="en-US" sz="2400" b="1" dirty="0"/>
              <a:t>not</a:t>
            </a:r>
            <a:r>
              <a:rPr lang="en-US" sz="2400" dirty="0"/>
              <a:t> introduce new techniques and </a:t>
            </a:r>
            <a:r>
              <a:rPr lang="en-US" sz="2400" b="1" dirty="0"/>
              <a:t>excludes Domain-IL</a:t>
            </a:r>
            <a:r>
              <a:rPr lang="en-US" sz="2400" dirty="0"/>
              <a:t> due to its reliance on more advanced approaches like meta-learning.</a:t>
            </a:r>
          </a:p>
          <a:p>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6</a:t>
            </a:fld>
            <a:endParaRPr lang="en-IN"/>
          </a:p>
        </p:txBody>
      </p:sp>
    </p:spTree>
    <p:extLst>
      <p:ext uri="{BB962C8B-B14F-4D97-AF65-F5344CB8AC3E}">
        <p14:creationId xmlns:p14="http://schemas.microsoft.com/office/powerpoint/2010/main" val="9357227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dirty="0">
                <a:latin typeface="Arial Narrow"/>
                <a:ea typeface="Arial Narrow"/>
                <a:cs typeface="Arial Narrow"/>
                <a:sym typeface="Arial Narrow"/>
              </a:rPr>
              <a:t>Related Work</a:t>
            </a:r>
            <a:endParaRPr b="1" dirty="0">
              <a:latin typeface="Arial Narrow"/>
              <a:ea typeface="Arial Narrow"/>
              <a:cs typeface="Arial Narrow"/>
              <a:sym typeface="Arial Narrow"/>
            </a:endParaRPr>
          </a:p>
        </p:txBody>
      </p:sp>
      <p:sp>
        <p:nvSpPr>
          <p:cNvPr id="116" name="Google Shape;116;p4"/>
          <p:cNvSpPr txBox="1">
            <a:spLocks noGrp="1"/>
          </p:cNvSpPr>
          <p:nvPr>
            <p:ph type="body" idx="1"/>
          </p:nvPr>
        </p:nvSpPr>
        <p:spPr>
          <a:xfrm>
            <a:off x="838200" y="1825625"/>
            <a:ext cx="10515600" cy="4530725"/>
          </a:xfrm>
          <a:prstGeom prst="rect">
            <a:avLst/>
          </a:prstGeom>
          <a:noFill/>
          <a:ln>
            <a:noFill/>
          </a:ln>
        </p:spPr>
        <p:txBody>
          <a:bodyPr spcFirstLastPara="1" wrap="square" lIns="91425" tIns="45700" rIns="91425" bIns="45700" anchor="t" anchorCtr="0">
            <a:normAutofit/>
          </a:bodyPr>
          <a:lstStyle/>
          <a:p>
            <a:pPr marL="0" indent="0">
              <a:spcBef>
                <a:spcPts val="0"/>
              </a:spcBef>
              <a:buClr>
                <a:schemeClr val="tx1"/>
              </a:buClr>
              <a:buSzPts val="2800"/>
              <a:buNone/>
            </a:pPr>
            <a:r>
              <a:rPr lang="en-IN" b="1" dirty="0"/>
              <a:t>Base Paper</a:t>
            </a:r>
          </a:p>
          <a:p>
            <a:pPr indent="-457200">
              <a:spcBef>
                <a:spcPts val="0"/>
              </a:spcBef>
              <a:buClr>
                <a:schemeClr val="tx1"/>
              </a:buClr>
              <a:buSzPts val="2800"/>
            </a:pPr>
            <a:r>
              <a:rPr lang="en-IN" b="1" dirty="0"/>
              <a:t>Title:</a:t>
            </a:r>
            <a:r>
              <a:rPr lang="en-IN" dirty="0"/>
              <a:t> </a:t>
            </a:r>
            <a:r>
              <a:rPr lang="en-IN" i="1" dirty="0"/>
              <a:t>Three Scenarios for Continual Learning</a:t>
            </a:r>
            <a:endParaRPr lang="en-IN" b="1" i="1" dirty="0"/>
          </a:p>
          <a:p>
            <a:pPr indent="-457200">
              <a:spcBef>
                <a:spcPts val="0"/>
              </a:spcBef>
              <a:buClr>
                <a:schemeClr val="tx1"/>
              </a:buClr>
              <a:buSzPts val="2800"/>
            </a:pPr>
            <a:r>
              <a:rPr lang="en-IN" b="1" dirty="0"/>
              <a:t>Author(s):</a:t>
            </a:r>
            <a:r>
              <a:rPr lang="en-IN" dirty="0"/>
              <a:t> </a:t>
            </a:r>
            <a:r>
              <a:rPr lang="en-IN" dirty="0" err="1"/>
              <a:t>Gido</a:t>
            </a:r>
            <a:r>
              <a:rPr lang="en-IN" dirty="0"/>
              <a:t> M. van de Ven &amp; Andreas S. Tolias</a:t>
            </a:r>
          </a:p>
          <a:p>
            <a:pPr indent="-457200">
              <a:spcBef>
                <a:spcPts val="0"/>
              </a:spcBef>
              <a:buClr>
                <a:schemeClr val="tx1"/>
              </a:buClr>
              <a:buSzPts val="2800"/>
            </a:pPr>
            <a:r>
              <a:rPr lang="en-IN" b="1" dirty="0"/>
              <a:t>Journal:</a:t>
            </a:r>
            <a:r>
              <a:rPr lang="en-IN" dirty="0"/>
              <a:t> </a:t>
            </a:r>
            <a:r>
              <a:rPr lang="en-IN" dirty="0" err="1"/>
              <a:t>NeurIPS</a:t>
            </a:r>
            <a:r>
              <a:rPr lang="en-IN" dirty="0"/>
              <a:t> Continual Learning Workshop (2018)</a:t>
            </a:r>
          </a:p>
          <a:p>
            <a:pPr indent="-457200">
              <a:spcBef>
                <a:spcPts val="0"/>
              </a:spcBef>
              <a:buClr>
                <a:schemeClr val="tx1"/>
              </a:buClr>
              <a:buSzPts val="2800"/>
            </a:pPr>
            <a:r>
              <a:rPr lang="en-IN" b="1" dirty="0"/>
              <a:t>Year of Publication:</a:t>
            </a:r>
            <a:r>
              <a:rPr lang="en-IN" dirty="0"/>
              <a:t> 2019</a:t>
            </a:r>
          </a:p>
          <a:p>
            <a:pPr indent="-457200">
              <a:spcBef>
                <a:spcPts val="0"/>
              </a:spcBef>
              <a:buClr>
                <a:schemeClr val="tx1"/>
              </a:buClr>
              <a:buSzPts val="2800"/>
            </a:pPr>
            <a:r>
              <a:rPr lang="en-IN" b="1" dirty="0"/>
              <a:t>Methodology: </a:t>
            </a:r>
          </a:p>
          <a:p>
            <a:pPr lvl="1" indent="-457200">
              <a:spcBef>
                <a:spcPts val="0"/>
              </a:spcBef>
              <a:buClr>
                <a:schemeClr val="tx1"/>
              </a:buClr>
              <a:buSzPts val="2800"/>
            </a:pPr>
            <a:r>
              <a:rPr lang="en-IN" dirty="0"/>
              <a:t>Defined three continual learning scenarios: Task-IL, Domain-IL, Class-IL.</a:t>
            </a:r>
          </a:p>
          <a:p>
            <a:pPr lvl="1" indent="-457200">
              <a:spcBef>
                <a:spcPts val="0"/>
              </a:spcBef>
              <a:buClr>
                <a:schemeClr val="tx1"/>
              </a:buClr>
              <a:buSzPts val="2800"/>
            </a:pPr>
            <a:r>
              <a:rPr lang="en-IN" dirty="0"/>
              <a:t>Compared different regularization, replay, and architectural methods on Split-MNIST and Permuted-MNIST benchmarks.</a:t>
            </a:r>
          </a:p>
          <a:p>
            <a:pPr lvl="1" indent="-457200">
              <a:spcBef>
                <a:spcPts val="0"/>
              </a:spcBef>
              <a:buClr>
                <a:schemeClr val="tx1"/>
              </a:buClr>
              <a:buSzPts val="2800"/>
            </a:pPr>
            <a:r>
              <a:rPr lang="en-IN" dirty="0"/>
              <a:t>Used extensive experimental evaluation to assess method effectiveness across different scenarios.</a:t>
            </a:r>
          </a:p>
          <a:p>
            <a:pPr lvl="1" indent="-457200">
              <a:spcBef>
                <a:spcPts val="0"/>
              </a:spcBef>
              <a:buClr>
                <a:schemeClr val="tx1"/>
              </a:buClr>
              <a:buSzPts val="2800"/>
            </a:pPr>
            <a:endParaRPr lang="en-IN" b="1" dirty="0"/>
          </a:p>
          <a:p>
            <a:pPr marL="228600" lvl="0" indent="-228600" algn="l" rtl="0">
              <a:lnSpc>
                <a:spcPct val="90000"/>
              </a:lnSpc>
              <a:spcBef>
                <a:spcPts val="0"/>
              </a:spcBef>
              <a:spcAft>
                <a:spcPts val="0"/>
              </a:spcAft>
              <a:buClr>
                <a:srgbClr val="FF0000"/>
              </a:buClr>
              <a:buSzPts val="2800"/>
              <a:buChar char="•"/>
            </a:pPr>
            <a:endParaRPr lang="en-IN" dirty="0"/>
          </a:p>
          <a:p>
            <a:pPr marL="228600" lvl="0" indent="-228600" algn="l" rtl="0">
              <a:lnSpc>
                <a:spcPct val="90000"/>
              </a:lnSpc>
              <a:spcBef>
                <a:spcPts val="0"/>
              </a:spcBef>
              <a:spcAft>
                <a:spcPts val="0"/>
              </a:spcAft>
              <a:buClr>
                <a:srgbClr val="FF0000"/>
              </a:buClr>
              <a:buSzPts val="2800"/>
              <a:buChar char="•"/>
            </a:pPr>
            <a:endParaRPr dirty="0">
              <a:solidFill>
                <a:srgbClr val="FF0000"/>
              </a:solidFill>
            </a:endParaRPr>
          </a:p>
        </p:txBody>
      </p:sp>
      <p:sp>
        <p:nvSpPr>
          <p:cNvPr id="117" name="Google Shape;11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18" name="Google Shape;11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Arial Narrow"/>
              <a:buNone/>
            </a:pPr>
            <a:r>
              <a:rPr lang="en-US" b="1">
                <a:latin typeface="Arial Narrow"/>
                <a:ea typeface="Arial Narrow"/>
                <a:cs typeface="Arial Narrow"/>
                <a:sym typeface="Arial Narrow"/>
              </a:rPr>
              <a:t>Proposed Methodology</a:t>
            </a:r>
            <a:endParaRPr b="1">
              <a:latin typeface="Arial Narrow"/>
              <a:ea typeface="Arial Narrow"/>
              <a:cs typeface="Arial Narrow"/>
              <a:sym typeface="Arial Narrow"/>
            </a:endParaRPr>
          </a:p>
        </p:txBody>
      </p:sp>
      <p:sp>
        <p:nvSpPr>
          <p:cNvPr id="133" name="Google Shape;13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CS7501 Project I PGP, ICER, VIT Bangalore</a:t>
            </a:r>
            <a:endParaRPr dirty="0"/>
          </a:p>
        </p:txBody>
      </p:sp>
      <p:sp>
        <p:nvSpPr>
          <p:cNvPr id="134" name="Google Shape;13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8</a:t>
            </a:fld>
            <a:endParaRPr/>
          </a:p>
        </p:txBody>
      </p:sp>
      <p:sp>
        <p:nvSpPr>
          <p:cNvPr id="2" name="Rectangle: Rounded Corners 1">
            <a:extLst>
              <a:ext uri="{FF2B5EF4-FFF2-40B4-BE49-F238E27FC236}">
                <a16:creationId xmlns:a16="http://schemas.microsoft.com/office/drawing/2014/main" id="{C6C2B658-945B-A144-BEB0-D73CBA519405}"/>
              </a:ext>
            </a:extLst>
          </p:cNvPr>
          <p:cNvSpPr/>
          <p:nvPr/>
        </p:nvSpPr>
        <p:spPr>
          <a:xfrm>
            <a:off x="349857" y="1455089"/>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Data Preparation</a:t>
            </a:r>
            <a:endParaRPr lang="en-IN" dirty="0"/>
          </a:p>
        </p:txBody>
      </p:sp>
      <p:cxnSp>
        <p:nvCxnSpPr>
          <p:cNvPr id="4" name="Straight Arrow Connector 3">
            <a:extLst>
              <a:ext uri="{FF2B5EF4-FFF2-40B4-BE49-F238E27FC236}">
                <a16:creationId xmlns:a16="http://schemas.microsoft.com/office/drawing/2014/main" id="{A7A35B62-CB3D-7EB5-E3D0-3597A9BAAE70}"/>
              </a:ext>
            </a:extLst>
          </p:cNvPr>
          <p:cNvCxnSpPr>
            <a:cxnSpLocks/>
            <a:stCxn id="2" idx="3"/>
            <a:endCxn id="8" idx="1"/>
          </p:cNvCxnSpPr>
          <p:nvPr/>
        </p:nvCxnSpPr>
        <p:spPr>
          <a:xfrm>
            <a:off x="2631882" y="1785068"/>
            <a:ext cx="1776454"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8" name="Rectangle: Rounded Corners 7">
            <a:extLst>
              <a:ext uri="{FF2B5EF4-FFF2-40B4-BE49-F238E27FC236}">
                <a16:creationId xmlns:a16="http://schemas.microsoft.com/office/drawing/2014/main" id="{C9AF1D7A-13DB-8B26-1B0B-AE12C61FB376}"/>
              </a:ext>
            </a:extLst>
          </p:cNvPr>
          <p:cNvSpPr/>
          <p:nvPr/>
        </p:nvSpPr>
        <p:spPr>
          <a:xfrm>
            <a:off x="4408336" y="1455089"/>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Exploratory Data Analysis</a:t>
            </a:r>
            <a:endParaRPr lang="en-IN" dirty="0"/>
          </a:p>
        </p:txBody>
      </p:sp>
      <p:cxnSp>
        <p:nvCxnSpPr>
          <p:cNvPr id="10" name="Straight Arrow Connector 9">
            <a:extLst>
              <a:ext uri="{FF2B5EF4-FFF2-40B4-BE49-F238E27FC236}">
                <a16:creationId xmlns:a16="http://schemas.microsoft.com/office/drawing/2014/main" id="{6B4B9786-C4AA-3844-392C-415358565D4A}"/>
              </a:ext>
            </a:extLst>
          </p:cNvPr>
          <p:cNvCxnSpPr>
            <a:cxnSpLocks/>
            <a:stCxn id="8" idx="3"/>
            <a:endCxn id="13" idx="1"/>
          </p:cNvCxnSpPr>
          <p:nvPr/>
        </p:nvCxnSpPr>
        <p:spPr>
          <a:xfrm>
            <a:off x="6690361" y="1785068"/>
            <a:ext cx="1805609"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13" name="Rectangle: Rounded Corners 12">
            <a:extLst>
              <a:ext uri="{FF2B5EF4-FFF2-40B4-BE49-F238E27FC236}">
                <a16:creationId xmlns:a16="http://schemas.microsoft.com/office/drawing/2014/main" id="{33A98BB7-5C5D-21BF-AF47-39E43E68E563}"/>
              </a:ext>
            </a:extLst>
          </p:cNvPr>
          <p:cNvSpPr/>
          <p:nvPr/>
        </p:nvSpPr>
        <p:spPr>
          <a:xfrm>
            <a:off x="8495970" y="1455089"/>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Analysis of Catastrophic Forgetting</a:t>
            </a:r>
            <a:endParaRPr lang="en-IN" sz="1600" dirty="0"/>
          </a:p>
        </p:txBody>
      </p:sp>
      <p:cxnSp>
        <p:nvCxnSpPr>
          <p:cNvPr id="15" name="Straight Arrow Connector 14">
            <a:extLst>
              <a:ext uri="{FF2B5EF4-FFF2-40B4-BE49-F238E27FC236}">
                <a16:creationId xmlns:a16="http://schemas.microsoft.com/office/drawing/2014/main" id="{BE7B99BE-BCA6-0153-976E-81AA6E37C519}"/>
              </a:ext>
            </a:extLst>
          </p:cNvPr>
          <p:cNvCxnSpPr>
            <a:cxnSpLocks/>
            <a:stCxn id="13" idx="2"/>
            <a:endCxn id="20" idx="0"/>
          </p:cNvCxnSpPr>
          <p:nvPr/>
        </p:nvCxnSpPr>
        <p:spPr>
          <a:xfrm>
            <a:off x="9636983" y="2115047"/>
            <a:ext cx="0" cy="1366313"/>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0" name="Rectangle: Rounded Corners 19">
            <a:extLst>
              <a:ext uri="{FF2B5EF4-FFF2-40B4-BE49-F238E27FC236}">
                <a16:creationId xmlns:a16="http://schemas.microsoft.com/office/drawing/2014/main" id="{1E69B73E-C010-B13E-5ED7-B67E7718AD9E}"/>
              </a:ext>
            </a:extLst>
          </p:cNvPr>
          <p:cNvSpPr/>
          <p:nvPr/>
        </p:nvSpPr>
        <p:spPr>
          <a:xfrm>
            <a:off x="8495970" y="3481360"/>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Model Implementation</a:t>
            </a:r>
            <a:endParaRPr lang="en-IN" dirty="0"/>
          </a:p>
        </p:txBody>
      </p:sp>
      <p:cxnSp>
        <p:nvCxnSpPr>
          <p:cNvPr id="22" name="Straight Arrow Connector 21">
            <a:extLst>
              <a:ext uri="{FF2B5EF4-FFF2-40B4-BE49-F238E27FC236}">
                <a16:creationId xmlns:a16="http://schemas.microsoft.com/office/drawing/2014/main" id="{C01F4736-D577-2734-1948-B7EC920EC618}"/>
              </a:ext>
            </a:extLst>
          </p:cNvPr>
          <p:cNvCxnSpPr>
            <a:cxnSpLocks/>
            <a:stCxn id="20" idx="1"/>
            <a:endCxn id="25" idx="3"/>
          </p:cNvCxnSpPr>
          <p:nvPr/>
        </p:nvCxnSpPr>
        <p:spPr>
          <a:xfrm flipH="1">
            <a:off x="6692018" y="3811339"/>
            <a:ext cx="1803952"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5" name="Rectangle: Rounded Corners 24">
            <a:extLst>
              <a:ext uri="{FF2B5EF4-FFF2-40B4-BE49-F238E27FC236}">
                <a16:creationId xmlns:a16="http://schemas.microsoft.com/office/drawing/2014/main" id="{40F0DCAC-AEDB-FE85-4D59-70B29F6702A8}"/>
              </a:ext>
            </a:extLst>
          </p:cNvPr>
          <p:cNvSpPr/>
          <p:nvPr/>
        </p:nvSpPr>
        <p:spPr>
          <a:xfrm>
            <a:off x="4409993" y="3481360"/>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Training Across Learning Scenarios</a:t>
            </a:r>
            <a:endParaRPr lang="en-IN" dirty="0"/>
          </a:p>
        </p:txBody>
      </p:sp>
      <p:cxnSp>
        <p:nvCxnSpPr>
          <p:cNvPr id="27" name="Straight Arrow Connector 26">
            <a:extLst>
              <a:ext uri="{FF2B5EF4-FFF2-40B4-BE49-F238E27FC236}">
                <a16:creationId xmlns:a16="http://schemas.microsoft.com/office/drawing/2014/main" id="{31537B7F-6857-0D92-72AE-43730AE618AA}"/>
              </a:ext>
            </a:extLst>
          </p:cNvPr>
          <p:cNvCxnSpPr>
            <a:cxnSpLocks/>
            <a:stCxn id="25" idx="1"/>
            <a:endCxn id="29" idx="3"/>
          </p:cNvCxnSpPr>
          <p:nvPr/>
        </p:nvCxnSpPr>
        <p:spPr>
          <a:xfrm flipH="1">
            <a:off x="2631882" y="3811339"/>
            <a:ext cx="1778111"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29" name="Rectangle: Rounded Corners 28">
            <a:extLst>
              <a:ext uri="{FF2B5EF4-FFF2-40B4-BE49-F238E27FC236}">
                <a16:creationId xmlns:a16="http://schemas.microsoft.com/office/drawing/2014/main" id="{E0BCE77C-5B31-018B-677F-678929A31CA2}"/>
              </a:ext>
            </a:extLst>
          </p:cNvPr>
          <p:cNvSpPr/>
          <p:nvPr/>
        </p:nvSpPr>
        <p:spPr>
          <a:xfrm>
            <a:off x="349857" y="3481360"/>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Performance Evaluation</a:t>
            </a:r>
            <a:endParaRPr lang="en-IN" dirty="0"/>
          </a:p>
        </p:txBody>
      </p:sp>
      <p:cxnSp>
        <p:nvCxnSpPr>
          <p:cNvPr id="31" name="Straight Arrow Connector 30">
            <a:extLst>
              <a:ext uri="{FF2B5EF4-FFF2-40B4-BE49-F238E27FC236}">
                <a16:creationId xmlns:a16="http://schemas.microsoft.com/office/drawing/2014/main" id="{E6D517BD-59A6-8C57-520D-E3679E6F905D}"/>
              </a:ext>
            </a:extLst>
          </p:cNvPr>
          <p:cNvCxnSpPr>
            <a:cxnSpLocks/>
            <a:stCxn id="29" idx="2"/>
            <a:endCxn id="35" idx="0"/>
          </p:cNvCxnSpPr>
          <p:nvPr/>
        </p:nvCxnSpPr>
        <p:spPr>
          <a:xfrm>
            <a:off x="1490870" y="4141318"/>
            <a:ext cx="0" cy="984947"/>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35" name="Rectangle: Rounded Corners 34">
            <a:extLst>
              <a:ext uri="{FF2B5EF4-FFF2-40B4-BE49-F238E27FC236}">
                <a16:creationId xmlns:a16="http://schemas.microsoft.com/office/drawing/2014/main" id="{67DAA992-E32B-E382-FF15-D8FC5AB44279}"/>
              </a:ext>
            </a:extLst>
          </p:cNvPr>
          <p:cNvSpPr/>
          <p:nvPr/>
        </p:nvSpPr>
        <p:spPr>
          <a:xfrm>
            <a:off x="349857" y="5126265"/>
            <a:ext cx="2282025" cy="659958"/>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Conclusion</a:t>
            </a:r>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F9C69-CE0F-67B6-C27B-D99CF13A58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F17B32-73C8-DA29-22EC-79B1A07DCCAD}"/>
              </a:ext>
            </a:extLst>
          </p:cNvPr>
          <p:cNvSpPr>
            <a:spLocks noGrp="1"/>
          </p:cNvSpPr>
          <p:nvPr>
            <p:ph type="title"/>
          </p:nvPr>
        </p:nvSpPr>
        <p:spPr/>
        <p:txBody>
          <a:bodyPr/>
          <a:lstStyle/>
          <a:p>
            <a:r>
              <a:rPr lang="en-US" b="1" dirty="0">
                <a:latin typeface="Arial Narrow" panose="020B0606020202030204" pitchFamily="34" charset="0"/>
              </a:rPr>
              <a:t>Proposed Methodology</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2F71A832-7F2F-6440-5577-7063226AFBFE}"/>
              </a:ext>
            </a:extLst>
          </p:cNvPr>
          <p:cNvSpPr>
            <a:spLocks noGrp="1"/>
          </p:cNvSpPr>
          <p:nvPr>
            <p:ph idx="1"/>
          </p:nvPr>
        </p:nvSpPr>
        <p:spPr/>
        <p:txBody>
          <a:bodyPr>
            <a:normAutofit fontScale="85000" lnSpcReduction="20000"/>
          </a:bodyPr>
          <a:lstStyle/>
          <a:p>
            <a:r>
              <a:rPr lang="en-US" b="1" dirty="0"/>
              <a:t>Mitigation Techniques to be Compared:</a:t>
            </a:r>
            <a:endParaRPr lang="en-US" dirty="0"/>
          </a:p>
          <a:p>
            <a:pPr lvl="1"/>
            <a:r>
              <a:rPr lang="en-US" b="1" dirty="0"/>
              <a:t>Regularization-Based Methods</a:t>
            </a:r>
            <a:r>
              <a:rPr lang="en-US" dirty="0"/>
              <a:t> → Elastic Weight Consolidation (EWC), Synaptic Intelligence (SI) (penalize weight updates to retain past knowledge).</a:t>
            </a:r>
          </a:p>
          <a:p>
            <a:pPr lvl="1"/>
            <a:r>
              <a:rPr lang="en-US" b="1" dirty="0"/>
              <a:t>Replay-Based Methods</a:t>
            </a:r>
            <a:r>
              <a:rPr lang="en-US" dirty="0"/>
              <a:t> → Naïve Rehearsal, Experience Replay (stores and reuses past task data during training).</a:t>
            </a:r>
          </a:p>
          <a:p>
            <a:pPr lvl="1"/>
            <a:r>
              <a:rPr lang="en-US" b="1" dirty="0"/>
              <a:t>Architectural Methods</a:t>
            </a:r>
            <a:r>
              <a:rPr lang="en-US" dirty="0"/>
              <a:t> → </a:t>
            </a:r>
            <a:r>
              <a:rPr lang="en-US" dirty="0" err="1"/>
              <a:t>PackNet</a:t>
            </a:r>
            <a:r>
              <a:rPr lang="en-US" dirty="0"/>
              <a:t> (freezes weights, allocates separate network parameters for different tasks, preventing interference).</a:t>
            </a:r>
          </a:p>
          <a:p>
            <a:r>
              <a:rPr lang="en-US" b="1" dirty="0"/>
              <a:t>Incremental Learning Scenarios:</a:t>
            </a:r>
            <a:endParaRPr lang="en-US" dirty="0"/>
          </a:p>
          <a:p>
            <a:pPr lvl="1"/>
            <a:r>
              <a:rPr lang="en-US" b="1" dirty="0"/>
              <a:t>Task-Incremental Learning (Task-IL)</a:t>
            </a:r>
            <a:r>
              <a:rPr lang="en-US" dirty="0"/>
              <a:t> → Task identity is provided, allowing separate classification for each task.</a:t>
            </a:r>
          </a:p>
          <a:p>
            <a:pPr lvl="1"/>
            <a:r>
              <a:rPr lang="en-US" b="1" dirty="0"/>
              <a:t>Class-Incremental Learning (Class-IL)</a:t>
            </a:r>
            <a:r>
              <a:rPr lang="en-US" dirty="0"/>
              <a:t> → Task identity is unknown, requiring a single classifier for all previously seen classes.</a:t>
            </a:r>
          </a:p>
          <a:p>
            <a:r>
              <a:rPr lang="en-US" b="1" dirty="0"/>
              <a:t>Baseline for Comparison:</a:t>
            </a:r>
            <a:endParaRPr lang="en-US" dirty="0"/>
          </a:p>
          <a:p>
            <a:pPr lvl="1"/>
            <a:r>
              <a:rPr lang="en-US" b="1" dirty="0"/>
              <a:t>Vanilla SGD</a:t>
            </a:r>
            <a:r>
              <a:rPr lang="en-US" dirty="0"/>
              <a:t> → Train without any mitigation techniques to observe the extent of catastrophic forgetting.</a:t>
            </a:r>
          </a:p>
        </p:txBody>
      </p:sp>
      <p:sp>
        <p:nvSpPr>
          <p:cNvPr id="4" name="Footer Placeholder 3">
            <a:extLst>
              <a:ext uri="{FF2B5EF4-FFF2-40B4-BE49-F238E27FC236}">
                <a16:creationId xmlns:a16="http://schemas.microsoft.com/office/drawing/2014/main" id="{5D7823C6-8A91-7F28-EE1C-5E5E2ABCBDE6}"/>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295CBBBB-BB11-C718-6964-89B6ED1213FE}"/>
              </a:ext>
            </a:extLst>
          </p:cNvPr>
          <p:cNvSpPr>
            <a:spLocks noGrp="1"/>
          </p:cNvSpPr>
          <p:nvPr>
            <p:ph type="sldNum" sz="quarter" idx="12"/>
          </p:nvPr>
        </p:nvSpPr>
        <p:spPr/>
        <p:txBody>
          <a:bodyPr/>
          <a:lstStyle/>
          <a:p>
            <a:fld id="{90EDC104-672A-4227-99C4-0E2CC007FDBA}" type="slidenum">
              <a:rPr lang="en-IN" smtClean="0"/>
              <a:t>9</a:t>
            </a:fld>
            <a:endParaRPr lang="en-IN"/>
          </a:p>
        </p:txBody>
      </p:sp>
    </p:spTree>
    <p:extLst>
      <p:ext uri="{BB962C8B-B14F-4D97-AF65-F5344CB8AC3E}">
        <p14:creationId xmlns:p14="http://schemas.microsoft.com/office/powerpoint/2010/main" val="7273691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825625"/>
            <a:ext cx="10515600" cy="3231405"/>
          </a:xfrm>
        </p:spPr>
        <p:txBody>
          <a:bodyPr>
            <a:normAutofit/>
          </a:bodyPr>
          <a:lstStyle/>
          <a:p>
            <a:r>
              <a:rPr lang="en-US" b="1" dirty="0">
                <a:latin typeface="Arial Narrow" panose="020B0606020202030204" pitchFamily="34" charset="0"/>
              </a:rPr>
              <a:t>Source of the Dataset: </a:t>
            </a:r>
            <a:r>
              <a:rPr lang="en-IN" dirty="0">
                <a:latin typeface="Arial Narrow" panose="020B0606020202030204" pitchFamily="34" charset="0"/>
              </a:rPr>
              <a:t>Yann LeCun, Corinna Cortes, Christopher J.C. 				        Burges. "The MNIST Database of handwritten digits".                                     			        http://yann.lecun.com/exdb/mnist/</a:t>
            </a:r>
            <a:endParaRPr lang="en-US" dirty="0">
              <a:latin typeface="Arial Narrow" panose="020B0606020202030204" pitchFamily="34" charset="0"/>
            </a:endParaRPr>
          </a:p>
          <a:p>
            <a:r>
              <a:rPr lang="en-US" b="1" dirty="0">
                <a:latin typeface="Arial Narrow" panose="020B0606020202030204" pitchFamily="34" charset="0"/>
              </a:rPr>
              <a:t>No. of Observations: </a:t>
            </a:r>
            <a:r>
              <a:rPr lang="en-US" dirty="0">
                <a:latin typeface="Arial Narrow" panose="020B0606020202030204" pitchFamily="34" charset="0"/>
              </a:rPr>
              <a:t>Training Samples: 60,000</a:t>
            </a:r>
          </a:p>
          <a:p>
            <a:pPr marL="3200400" lvl="7" indent="0">
              <a:buNone/>
            </a:pPr>
            <a:r>
              <a:rPr lang="en-US" sz="2800" dirty="0">
                <a:latin typeface="Arial Narrow" panose="020B0606020202030204" pitchFamily="34" charset="0"/>
              </a:rPr>
              <a:t>Test Samples: 10,000</a:t>
            </a:r>
          </a:p>
          <a:p>
            <a:r>
              <a:rPr lang="en-US" b="1" dirty="0">
                <a:latin typeface="Arial Narrow" panose="020B0606020202030204" pitchFamily="34" charset="0"/>
              </a:rPr>
              <a:t>Column/Feature Details: </a:t>
            </a:r>
            <a:r>
              <a:rPr lang="en-US" dirty="0">
                <a:latin typeface="Arial Narrow" panose="020B0606020202030204" pitchFamily="34" charset="0"/>
              </a:rPr>
              <a:t>Input Shape: (1, 28, 28)</a:t>
            </a:r>
          </a:p>
          <a:p>
            <a:pPr marL="3657600" lvl="8" indent="0">
              <a:buNone/>
            </a:pPr>
            <a:r>
              <a:rPr lang="en-US" sz="2800" dirty="0">
                <a:latin typeface="Arial Narrow" panose="020B0606020202030204" pitchFamily="34" charset="0"/>
              </a:rPr>
              <a:t>No. of Classes: 10 (0-9 digits)</a:t>
            </a:r>
            <a:endParaRPr lang="en-IN" b="1" dirty="0">
              <a:latin typeface="Arial Narrow" panose="020B0606020202030204" pitchFamily="34" charset="0"/>
            </a:endParaRPr>
          </a:p>
        </p:txBody>
      </p:sp>
      <p:sp>
        <p:nvSpPr>
          <p:cNvPr id="4"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CS7501 Project I PGP, ICER, VIT Bangalore</a:t>
            </a:r>
          </a:p>
        </p:txBody>
      </p:sp>
      <p:sp>
        <p:nvSpPr>
          <p:cNvPr id="5"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DC104-672A-4227-99C4-0E2CC007FDBA}"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6324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64C35-1A7E-E3E4-B40F-1D188AED0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003D42-7536-149C-A1A9-C40FE04892B9}"/>
              </a:ext>
            </a:extLst>
          </p:cNvPr>
          <p:cNvSpPr>
            <a:spLocks noGrp="1"/>
          </p:cNvSpPr>
          <p:nvPr>
            <p:ph type="title"/>
          </p:nvPr>
        </p:nvSpPr>
        <p:spPr/>
        <p:txBody>
          <a:bodyPr/>
          <a:lstStyle/>
          <a:p>
            <a:r>
              <a:rPr lang="en-US" b="1" dirty="0">
                <a:latin typeface="Arial Narrow" panose="020B0606020202030204" pitchFamily="34" charset="0"/>
              </a:rPr>
              <a:t>Dataset</a:t>
            </a:r>
            <a:endParaRPr lang="en-IN" b="1" dirty="0">
              <a:latin typeface="Arial Narrow" panose="020B0606020202030204" pitchFamily="34" charset="0"/>
            </a:endParaRPr>
          </a:p>
        </p:txBody>
      </p:sp>
      <p:sp>
        <p:nvSpPr>
          <p:cNvPr id="3" name="Content Placeholder 2">
            <a:extLst>
              <a:ext uri="{FF2B5EF4-FFF2-40B4-BE49-F238E27FC236}">
                <a16:creationId xmlns:a16="http://schemas.microsoft.com/office/drawing/2014/main" id="{62DC0AC5-70AD-4C1B-04F3-7DA9249A84C6}"/>
              </a:ext>
            </a:extLst>
          </p:cNvPr>
          <p:cNvSpPr>
            <a:spLocks noGrp="1"/>
          </p:cNvSpPr>
          <p:nvPr>
            <p:ph idx="1"/>
          </p:nvPr>
        </p:nvSpPr>
        <p:spPr/>
        <p:txBody>
          <a:bodyPr/>
          <a:lstStyle/>
          <a:p>
            <a:r>
              <a:rPr lang="en-US" b="1" dirty="0">
                <a:latin typeface="Arial Narrow" panose="020B0606020202030204" pitchFamily="34" charset="0"/>
              </a:rPr>
              <a:t>Screenshot of the dataset:</a:t>
            </a:r>
            <a:endParaRPr lang="en-IN" b="1" dirty="0">
              <a:latin typeface="Arial Narrow" panose="020B0606020202030204" pitchFamily="34" charset="0"/>
            </a:endParaRPr>
          </a:p>
        </p:txBody>
      </p:sp>
      <p:sp>
        <p:nvSpPr>
          <p:cNvPr id="4" name="Footer Placeholder 3">
            <a:extLst>
              <a:ext uri="{FF2B5EF4-FFF2-40B4-BE49-F238E27FC236}">
                <a16:creationId xmlns:a16="http://schemas.microsoft.com/office/drawing/2014/main" id="{531CB0BC-CB21-3F49-0311-6D2F91622778}"/>
              </a:ext>
            </a:extLst>
          </p:cNvPr>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t>CS7501 Project I PGP, ICER, VIT Bangalore</a:t>
            </a:r>
          </a:p>
        </p:txBody>
      </p:sp>
      <p:sp>
        <p:nvSpPr>
          <p:cNvPr id="5" name="Slide Number Placeholder 4">
            <a:extLst>
              <a:ext uri="{FF2B5EF4-FFF2-40B4-BE49-F238E27FC236}">
                <a16:creationId xmlns:a16="http://schemas.microsoft.com/office/drawing/2014/main" id="{C9853FAE-B45F-4286-D09C-E231EF803CA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0EDC104-672A-4227-99C4-0E2CC007FDBA}"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9" name="Picture 8">
            <a:extLst>
              <a:ext uri="{FF2B5EF4-FFF2-40B4-BE49-F238E27FC236}">
                <a16:creationId xmlns:a16="http://schemas.microsoft.com/office/drawing/2014/main" id="{52198782-B156-DDFF-5CA1-DC4F8E8774FF}"/>
              </a:ext>
            </a:extLst>
          </p:cNvPr>
          <p:cNvPicPr>
            <a:picLocks noChangeAspect="1"/>
          </p:cNvPicPr>
          <p:nvPr/>
        </p:nvPicPr>
        <p:blipFill>
          <a:blip r:embed="rId2"/>
          <a:stretch>
            <a:fillRect/>
          </a:stretch>
        </p:blipFill>
        <p:spPr>
          <a:xfrm>
            <a:off x="5099113" y="844060"/>
            <a:ext cx="5325047" cy="5423093"/>
          </a:xfrm>
          <a:prstGeom prst="rect">
            <a:avLst/>
          </a:prstGeom>
        </p:spPr>
      </p:pic>
    </p:spTree>
    <p:extLst>
      <p:ext uri="{BB962C8B-B14F-4D97-AF65-F5344CB8AC3E}">
        <p14:creationId xmlns:p14="http://schemas.microsoft.com/office/powerpoint/2010/main" val="13423560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p:cNvSpPr>
            <a:spLocks noGrp="1"/>
          </p:cNvSpPr>
          <p:nvPr>
            <p:ph idx="1"/>
          </p:nvPr>
        </p:nvSpPr>
        <p:spPr/>
        <p:txBody>
          <a:bodyPr>
            <a:normAutofit/>
          </a:bodyPr>
          <a:lstStyle/>
          <a:p>
            <a:r>
              <a:rPr lang="en-US" dirty="0"/>
              <a:t>Methodology (Vanilla SGD):</a:t>
            </a:r>
          </a:p>
          <a:p>
            <a:pPr lvl="1"/>
            <a:r>
              <a:rPr lang="en-US" dirty="0"/>
              <a:t>Baseline Training: A simple neural network trained sequentially on five binary classification tasks from Split-MNIST.</a:t>
            </a:r>
          </a:p>
          <a:p>
            <a:pPr lvl="1"/>
            <a:r>
              <a:rPr lang="en-US" dirty="0"/>
              <a:t>Optimization: Used Stochastic Gradient Descent (SGD) with cross-entropy loss and a learning rate of 0.01.</a:t>
            </a:r>
          </a:p>
          <a:p>
            <a:pPr lvl="1"/>
            <a:r>
              <a:rPr lang="en-US" dirty="0"/>
              <a:t>Training Setup: Each task trained for 5 epochs, and after each task, the model was evaluated on all previously learned tasks to measure forgetting.</a:t>
            </a:r>
          </a:p>
          <a:p>
            <a:pPr lvl="1"/>
            <a:r>
              <a:rPr lang="en-US" dirty="0"/>
              <a:t>Evaluation Metrics: Measured accuracy retention over time to observe the impact of catastrophic forgetting.</a:t>
            </a:r>
          </a:p>
          <a:p>
            <a:pPr lvl="1"/>
            <a:r>
              <a:rPr lang="en-US" dirty="0"/>
              <a:t>Expected Outcome: Performance on previous tasks decreases as new tasks are learned, demonstrating the forgetting effect.</a:t>
            </a: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12</a:t>
            </a:fld>
            <a:endParaRPr lang="en-IN"/>
          </a:p>
        </p:txBody>
      </p:sp>
    </p:spTree>
    <p:extLst>
      <p:ext uri="{BB962C8B-B14F-4D97-AF65-F5344CB8AC3E}">
        <p14:creationId xmlns:p14="http://schemas.microsoft.com/office/powerpoint/2010/main" val="1205931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705F4B-BB98-71F1-3D9F-7DC8218656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23E9D2-E2F5-B82A-FD19-2BE499FE60DA}"/>
              </a:ext>
            </a:extLst>
          </p:cNvPr>
          <p:cNvSpPr>
            <a:spLocks noGrp="1"/>
          </p:cNvSpPr>
          <p:nvPr>
            <p:ph type="title"/>
          </p:nvPr>
        </p:nvSpPr>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D7D87C06-37BA-B76D-2238-AC1A86F24C30}"/>
              </a:ext>
            </a:extLst>
          </p:cNvPr>
          <p:cNvSpPr>
            <a:spLocks noGrp="1"/>
          </p:cNvSpPr>
          <p:nvPr>
            <p:ph idx="1"/>
          </p:nvPr>
        </p:nvSpPr>
        <p:spPr>
          <a:xfrm>
            <a:off x="6895124" y="2211265"/>
            <a:ext cx="4838700" cy="2610827"/>
          </a:xfrm>
        </p:spPr>
        <p:txBody>
          <a:bodyPr>
            <a:normAutofit/>
          </a:bodyPr>
          <a:lstStyle/>
          <a:p>
            <a:pPr marL="0" indent="0">
              <a:buNone/>
            </a:pPr>
            <a:r>
              <a:rPr lang="en-US" dirty="0"/>
              <a:t>The spikes in loss coincide with transitions in training between tasks. The decreases then show how the model adapts to the new task.</a:t>
            </a:r>
          </a:p>
        </p:txBody>
      </p:sp>
      <p:sp>
        <p:nvSpPr>
          <p:cNvPr id="4" name="Footer Placeholder 3">
            <a:extLst>
              <a:ext uri="{FF2B5EF4-FFF2-40B4-BE49-F238E27FC236}">
                <a16:creationId xmlns:a16="http://schemas.microsoft.com/office/drawing/2014/main" id="{0A63FE13-8FFA-D47E-3C77-8F624DD2E112}"/>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8E20456F-E430-E70A-FC65-834A0ECCED7D}"/>
              </a:ext>
            </a:extLst>
          </p:cNvPr>
          <p:cNvSpPr>
            <a:spLocks noGrp="1"/>
          </p:cNvSpPr>
          <p:nvPr>
            <p:ph type="sldNum" sz="quarter" idx="12"/>
          </p:nvPr>
        </p:nvSpPr>
        <p:spPr/>
        <p:txBody>
          <a:bodyPr/>
          <a:lstStyle/>
          <a:p>
            <a:fld id="{90EDC104-672A-4227-99C4-0E2CC007FDBA}" type="slidenum">
              <a:rPr lang="en-IN" smtClean="0"/>
              <a:t>13</a:t>
            </a:fld>
            <a:endParaRPr lang="en-IN"/>
          </a:p>
        </p:txBody>
      </p:sp>
      <p:pic>
        <p:nvPicPr>
          <p:cNvPr id="2050" name="Picture 2">
            <a:extLst>
              <a:ext uri="{FF2B5EF4-FFF2-40B4-BE49-F238E27FC236}">
                <a16:creationId xmlns:a16="http://schemas.microsoft.com/office/drawing/2014/main" id="{B50377D9-952F-69BD-5CCD-0D6EEFC189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 y="1398465"/>
            <a:ext cx="5867400" cy="4686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32837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DF3DB-A363-F22A-CA63-ED7F22F970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73D063-A28A-94D5-1347-DD1D2E665962}"/>
              </a:ext>
            </a:extLst>
          </p:cNvPr>
          <p:cNvSpPr>
            <a:spLocks noGrp="1"/>
          </p:cNvSpPr>
          <p:nvPr>
            <p:ph type="title"/>
          </p:nvPr>
        </p:nvSpPr>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22BDBF19-22AE-C024-9DD7-95E278AC6B2B}"/>
              </a:ext>
            </a:extLst>
          </p:cNvPr>
          <p:cNvSpPr>
            <a:spLocks noGrp="1"/>
          </p:cNvSpPr>
          <p:nvPr>
            <p:ph idx="1"/>
          </p:nvPr>
        </p:nvSpPr>
        <p:spPr>
          <a:xfrm>
            <a:off x="6895124" y="2211265"/>
            <a:ext cx="4838700" cy="2610827"/>
          </a:xfrm>
        </p:spPr>
        <p:txBody>
          <a:bodyPr>
            <a:normAutofit/>
          </a:bodyPr>
          <a:lstStyle/>
          <a:p>
            <a:pPr marL="0" indent="0">
              <a:buNone/>
            </a:pPr>
            <a:r>
              <a:rPr lang="en-US" dirty="0"/>
              <a:t>The graph shows how the model adapts to learn to classify for the current task. In each case, the model shows strong performance on the current task.</a:t>
            </a:r>
          </a:p>
        </p:txBody>
      </p:sp>
      <p:sp>
        <p:nvSpPr>
          <p:cNvPr id="4" name="Footer Placeholder 3">
            <a:extLst>
              <a:ext uri="{FF2B5EF4-FFF2-40B4-BE49-F238E27FC236}">
                <a16:creationId xmlns:a16="http://schemas.microsoft.com/office/drawing/2014/main" id="{6F09E018-BBBA-A53F-2951-62CBE1867559}"/>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4B61EABE-A935-C4FA-BF0B-960A9EA356B7}"/>
              </a:ext>
            </a:extLst>
          </p:cNvPr>
          <p:cNvSpPr>
            <a:spLocks noGrp="1"/>
          </p:cNvSpPr>
          <p:nvPr>
            <p:ph type="sldNum" sz="quarter" idx="12"/>
          </p:nvPr>
        </p:nvSpPr>
        <p:spPr/>
        <p:txBody>
          <a:bodyPr/>
          <a:lstStyle/>
          <a:p>
            <a:fld id="{90EDC104-672A-4227-99C4-0E2CC007FDBA}" type="slidenum">
              <a:rPr lang="en-IN" smtClean="0"/>
              <a:t>14</a:t>
            </a:fld>
            <a:endParaRPr lang="en-IN"/>
          </a:p>
        </p:txBody>
      </p:sp>
      <p:pic>
        <p:nvPicPr>
          <p:cNvPr id="3074" name="Picture 2">
            <a:extLst>
              <a:ext uri="{FF2B5EF4-FFF2-40B4-BE49-F238E27FC236}">
                <a16:creationId xmlns:a16="http://schemas.microsoft.com/office/drawing/2014/main" id="{63127203-DBFF-58D0-0262-2B29B93EE9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5856" y="1463065"/>
            <a:ext cx="5848350" cy="4619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39279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8E194A-E814-DB46-3A4F-9D6718E072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89355D-D169-6BED-BABF-1A4365C04605}"/>
              </a:ext>
            </a:extLst>
          </p:cNvPr>
          <p:cNvSpPr>
            <a:spLocks noGrp="1"/>
          </p:cNvSpPr>
          <p:nvPr>
            <p:ph type="title"/>
          </p:nvPr>
        </p:nvSpPr>
        <p:spPr/>
        <p:txBody>
          <a:bodyPr/>
          <a:lstStyle/>
          <a:p>
            <a:r>
              <a:rPr lang="en-US" b="1" dirty="0">
                <a:latin typeface="Arial Narrow" panose="020B0606020202030204" pitchFamily="34" charset="0"/>
              </a:rPr>
              <a:t>Results and Discussion</a:t>
            </a:r>
            <a:endParaRPr lang="en-IN" b="1" dirty="0">
              <a:solidFill>
                <a:srgbClr val="FF0000"/>
              </a:solidFill>
              <a:latin typeface="Arial Narrow" panose="020B0606020202030204" pitchFamily="34" charset="0"/>
            </a:endParaRPr>
          </a:p>
        </p:txBody>
      </p:sp>
      <p:sp>
        <p:nvSpPr>
          <p:cNvPr id="3" name="Content Placeholder 2">
            <a:extLst>
              <a:ext uri="{FF2B5EF4-FFF2-40B4-BE49-F238E27FC236}">
                <a16:creationId xmlns:a16="http://schemas.microsoft.com/office/drawing/2014/main" id="{AF6B6A90-C9C4-ED3B-983B-A85BD7CE3665}"/>
              </a:ext>
            </a:extLst>
          </p:cNvPr>
          <p:cNvSpPr>
            <a:spLocks noGrp="1"/>
          </p:cNvSpPr>
          <p:nvPr>
            <p:ph idx="1"/>
          </p:nvPr>
        </p:nvSpPr>
        <p:spPr>
          <a:xfrm>
            <a:off x="6895124" y="2211265"/>
            <a:ext cx="4838700" cy="2610827"/>
          </a:xfrm>
        </p:spPr>
        <p:txBody>
          <a:bodyPr>
            <a:normAutofit fontScale="92500" lnSpcReduction="20000"/>
          </a:bodyPr>
          <a:lstStyle/>
          <a:p>
            <a:pPr marL="0" indent="0">
              <a:buNone/>
            </a:pPr>
            <a:r>
              <a:rPr lang="en-US" dirty="0"/>
              <a:t>In this plot, we can see the effects of forgetting as new tasks as trained. A general downward trend in accuracy is observed after subsequent tasks are trained with a few exceptions of increased accuracy which can be attributed to factors such as positive transfer or randomness.</a:t>
            </a:r>
          </a:p>
        </p:txBody>
      </p:sp>
      <p:sp>
        <p:nvSpPr>
          <p:cNvPr id="4" name="Footer Placeholder 3">
            <a:extLst>
              <a:ext uri="{FF2B5EF4-FFF2-40B4-BE49-F238E27FC236}">
                <a16:creationId xmlns:a16="http://schemas.microsoft.com/office/drawing/2014/main" id="{46CEE2E7-22F6-F729-1AA8-E90C8572F840}"/>
              </a:ext>
            </a:extLst>
          </p:cNvPr>
          <p:cNvSpPr>
            <a:spLocks noGrp="1"/>
          </p:cNvSpPr>
          <p:nvPr>
            <p:ph type="ftr" sz="quarter" idx="11"/>
          </p:nvPr>
        </p:nvSpPr>
        <p:spPr/>
        <p:txBody>
          <a:bodyPr/>
          <a:lstStyle/>
          <a:p>
            <a:r>
              <a:rPr lang="en-IN"/>
              <a:t>CS6501 Project I PGP, ICER, VIT Bangalore</a:t>
            </a:r>
          </a:p>
        </p:txBody>
      </p:sp>
      <p:sp>
        <p:nvSpPr>
          <p:cNvPr id="5" name="Slide Number Placeholder 4">
            <a:extLst>
              <a:ext uri="{FF2B5EF4-FFF2-40B4-BE49-F238E27FC236}">
                <a16:creationId xmlns:a16="http://schemas.microsoft.com/office/drawing/2014/main" id="{6AEBA631-B8D5-15FE-00B2-F363AC8ABAA5}"/>
              </a:ext>
            </a:extLst>
          </p:cNvPr>
          <p:cNvSpPr>
            <a:spLocks noGrp="1"/>
          </p:cNvSpPr>
          <p:nvPr>
            <p:ph type="sldNum" sz="quarter" idx="12"/>
          </p:nvPr>
        </p:nvSpPr>
        <p:spPr/>
        <p:txBody>
          <a:bodyPr/>
          <a:lstStyle/>
          <a:p>
            <a:fld id="{90EDC104-672A-4227-99C4-0E2CC007FDBA}" type="slidenum">
              <a:rPr lang="en-IN" smtClean="0"/>
              <a:t>15</a:t>
            </a:fld>
            <a:endParaRPr lang="en-IN"/>
          </a:p>
        </p:txBody>
      </p:sp>
      <p:pic>
        <p:nvPicPr>
          <p:cNvPr id="4098" name="Picture 2">
            <a:extLst>
              <a:ext uri="{FF2B5EF4-FFF2-40B4-BE49-F238E27FC236}">
                <a16:creationId xmlns:a16="http://schemas.microsoft.com/office/drawing/2014/main" id="{F49343BE-D53F-C54B-004C-C7BDAD0D09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8176" y="1419836"/>
            <a:ext cx="5943600" cy="4752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5252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Arial Narrow" panose="020B0606020202030204" pitchFamily="34" charset="0"/>
              </a:rPr>
              <a:t>Performance Analysis</a:t>
            </a:r>
            <a:endParaRPr lang="en-IN"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16</a:t>
            </a:fld>
            <a:endParaRPr lang="en-IN"/>
          </a:p>
        </p:txBody>
      </p:sp>
      <p:sp>
        <p:nvSpPr>
          <p:cNvPr id="6" name="Content Placeholder 2">
            <a:extLst>
              <a:ext uri="{FF2B5EF4-FFF2-40B4-BE49-F238E27FC236}">
                <a16:creationId xmlns:a16="http://schemas.microsoft.com/office/drawing/2014/main" id="{239EA30F-A434-BA0E-5A96-A38DD3AD5432}"/>
              </a:ext>
            </a:extLst>
          </p:cNvPr>
          <p:cNvSpPr txBox="1">
            <a:spLocks/>
          </p:cNvSpPr>
          <p:nvPr/>
        </p:nvSpPr>
        <p:spPr>
          <a:xfrm>
            <a:off x="375138" y="2211266"/>
            <a:ext cx="11457354" cy="6179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Performance Summary</a:t>
            </a:r>
          </a:p>
        </p:txBody>
      </p:sp>
      <p:pic>
        <p:nvPicPr>
          <p:cNvPr id="9" name="Picture 8">
            <a:extLst>
              <a:ext uri="{FF2B5EF4-FFF2-40B4-BE49-F238E27FC236}">
                <a16:creationId xmlns:a16="http://schemas.microsoft.com/office/drawing/2014/main" id="{FAD4DC8B-AB8E-4638-3EC9-63BB5A50854D}"/>
              </a:ext>
            </a:extLst>
          </p:cNvPr>
          <p:cNvPicPr>
            <a:picLocks noChangeAspect="1"/>
          </p:cNvPicPr>
          <p:nvPr/>
        </p:nvPicPr>
        <p:blipFill>
          <a:blip r:embed="rId2"/>
          <a:stretch>
            <a:fillRect/>
          </a:stretch>
        </p:blipFill>
        <p:spPr>
          <a:xfrm>
            <a:off x="240359" y="3021405"/>
            <a:ext cx="11726912" cy="1362265"/>
          </a:xfrm>
          <a:prstGeom prst="rect">
            <a:avLst/>
          </a:prstGeom>
        </p:spPr>
      </p:pic>
    </p:spTree>
    <p:extLst>
      <p:ext uri="{BB962C8B-B14F-4D97-AF65-F5344CB8AC3E}">
        <p14:creationId xmlns:p14="http://schemas.microsoft.com/office/powerpoint/2010/main" val="34436245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Conclusion</a:t>
            </a:r>
            <a:endParaRPr lang="en-IN" b="1" dirty="0">
              <a:latin typeface="Arial Narrow" panose="020B0606020202030204" pitchFamily="34" charset="0"/>
            </a:endParaRPr>
          </a:p>
        </p:txBody>
      </p:sp>
      <p:sp>
        <p:nvSpPr>
          <p:cNvPr id="3" name="Content Placeholder 2"/>
          <p:cNvSpPr>
            <a:spLocks noGrp="1"/>
          </p:cNvSpPr>
          <p:nvPr>
            <p:ph idx="1"/>
          </p:nvPr>
        </p:nvSpPr>
        <p:spPr>
          <a:xfrm>
            <a:off x="838200" y="1825625"/>
            <a:ext cx="10515600" cy="2629144"/>
          </a:xfrm>
        </p:spPr>
        <p:txBody>
          <a:bodyPr/>
          <a:lstStyle/>
          <a:p>
            <a:r>
              <a:rPr lang="en-US" sz="1800" b="1" i="0" u="none" strike="noStrike" dirty="0">
                <a:solidFill>
                  <a:srgbClr val="000000"/>
                </a:solidFill>
                <a:effectLst/>
                <a:latin typeface="Arial" panose="020B0604020202020204" pitchFamily="34" charset="0"/>
              </a:rPr>
              <a:t>Forgetting Observed:</a:t>
            </a:r>
            <a:r>
              <a:rPr lang="en-US" sz="1800" b="0" i="0" u="none" strike="noStrike" dirty="0">
                <a:solidFill>
                  <a:srgbClr val="000000"/>
                </a:solidFill>
                <a:effectLst/>
                <a:latin typeface="Arial" panose="020B0604020202020204" pitchFamily="34" charset="0"/>
              </a:rPr>
              <a:t> Accuracy on earlier tasks </a:t>
            </a:r>
            <a:r>
              <a:rPr lang="en-US" sz="1800" b="1" i="0" u="none" strike="noStrike" dirty="0">
                <a:solidFill>
                  <a:srgbClr val="000000"/>
                </a:solidFill>
                <a:effectLst/>
                <a:latin typeface="Arial" panose="020B0604020202020204" pitchFamily="34" charset="0"/>
              </a:rPr>
              <a:t>dropped significantly</a:t>
            </a:r>
            <a:r>
              <a:rPr lang="en-US" sz="1800" b="0" i="0" u="none" strike="noStrike" dirty="0">
                <a:solidFill>
                  <a:srgbClr val="000000"/>
                </a:solidFill>
                <a:effectLst/>
                <a:latin typeface="Arial" panose="020B0604020202020204" pitchFamily="34" charset="0"/>
              </a:rPr>
              <a:t> as new tasks were trained, confirming </a:t>
            </a:r>
            <a:r>
              <a:rPr lang="en-US" sz="1800" b="1" i="0" u="none" strike="noStrike" dirty="0">
                <a:solidFill>
                  <a:srgbClr val="000000"/>
                </a:solidFill>
                <a:effectLst/>
                <a:latin typeface="Arial" panose="020B0604020202020204" pitchFamily="34" charset="0"/>
              </a:rPr>
              <a:t>catastrophic forgetting</a:t>
            </a:r>
            <a:r>
              <a:rPr lang="en-US" sz="1800" b="0" i="0" u="none" strike="noStrike" dirty="0">
                <a:solidFill>
                  <a:srgbClr val="000000"/>
                </a:solidFill>
                <a:effectLst/>
                <a:latin typeface="Arial" panose="020B0604020202020204" pitchFamily="34" charset="0"/>
              </a:rPr>
              <a:t>.</a:t>
            </a:r>
            <a:endParaRPr lang="en-US" b="0" dirty="0">
              <a:effectLst/>
            </a:endParaRPr>
          </a:p>
          <a:p>
            <a:r>
              <a:rPr lang="en-US" sz="1800" b="1" i="0" u="none" strike="noStrike" dirty="0">
                <a:solidFill>
                  <a:srgbClr val="000000"/>
                </a:solidFill>
                <a:effectLst/>
                <a:latin typeface="Arial" panose="020B0604020202020204" pitchFamily="34" charset="0"/>
              </a:rPr>
              <a:t>Learning Adaptation:</a:t>
            </a:r>
            <a:r>
              <a:rPr lang="en-US" sz="1800" b="0" i="0" u="none" strike="noStrike" dirty="0">
                <a:solidFill>
                  <a:srgbClr val="000000"/>
                </a:solidFill>
                <a:effectLst/>
                <a:latin typeface="Arial" panose="020B0604020202020204" pitchFamily="34" charset="0"/>
              </a:rPr>
              <a:t> The model performed well on the </a:t>
            </a:r>
            <a:r>
              <a:rPr lang="en-US" sz="1800" b="1" i="0" u="none" strike="noStrike" dirty="0">
                <a:solidFill>
                  <a:srgbClr val="000000"/>
                </a:solidFill>
                <a:effectLst/>
                <a:latin typeface="Arial" panose="020B0604020202020204" pitchFamily="34" charset="0"/>
              </a:rPr>
              <a:t>current task</a:t>
            </a:r>
            <a:r>
              <a:rPr lang="en-US" sz="1800" b="0" i="0" u="none" strike="noStrike" dirty="0">
                <a:solidFill>
                  <a:srgbClr val="000000"/>
                </a:solidFill>
                <a:effectLst/>
                <a:latin typeface="Arial" panose="020B0604020202020204" pitchFamily="34" charset="0"/>
              </a:rPr>
              <a:t>, as seen in the accuracy curves.</a:t>
            </a:r>
            <a:endParaRPr lang="en-US" b="0" dirty="0">
              <a:effectLst/>
            </a:endParaRPr>
          </a:p>
          <a:p>
            <a:r>
              <a:rPr lang="en-US" sz="1800" b="1" i="0" u="none" strike="noStrike" dirty="0">
                <a:solidFill>
                  <a:srgbClr val="000000"/>
                </a:solidFill>
                <a:effectLst/>
                <a:latin typeface="Arial" panose="020B0604020202020204" pitchFamily="34" charset="0"/>
              </a:rPr>
              <a:t>Fluctuations in Forgetting:</a:t>
            </a:r>
            <a:r>
              <a:rPr lang="en-US" sz="1800" b="0" i="0" u="none" strike="noStrike" dirty="0">
                <a:solidFill>
                  <a:srgbClr val="000000"/>
                </a:solidFill>
                <a:effectLst/>
                <a:latin typeface="Arial" panose="020B0604020202020204" pitchFamily="34" charset="0"/>
              </a:rPr>
              <a:t> Some tasks showed </a:t>
            </a:r>
            <a:r>
              <a:rPr lang="en-US" sz="1800" b="1" i="0" u="none" strike="noStrike" dirty="0">
                <a:solidFill>
                  <a:srgbClr val="000000"/>
                </a:solidFill>
                <a:effectLst/>
                <a:latin typeface="Arial" panose="020B0604020202020204" pitchFamily="34" charset="0"/>
              </a:rPr>
              <a:t>temporary accuracy increases</a:t>
            </a:r>
            <a:r>
              <a:rPr lang="en-US" sz="1800" b="0" i="0" u="none" strike="noStrike" dirty="0">
                <a:solidFill>
                  <a:srgbClr val="000000"/>
                </a:solidFill>
                <a:effectLst/>
                <a:latin typeface="Arial" panose="020B0604020202020204" pitchFamily="34" charset="0"/>
              </a:rPr>
              <a:t> due to </a:t>
            </a:r>
            <a:r>
              <a:rPr lang="en-US" sz="1800" b="1" i="0" u="none" strike="noStrike" dirty="0">
                <a:solidFill>
                  <a:srgbClr val="000000"/>
                </a:solidFill>
                <a:effectLst/>
                <a:latin typeface="Arial" panose="020B0604020202020204" pitchFamily="34" charset="0"/>
              </a:rPr>
              <a:t>positive transfer</a:t>
            </a:r>
            <a:r>
              <a:rPr lang="en-US" sz="1800" b="0" i="0" u="none" strike="noStrike" dirty="0">
                <a:solidFill>
                  <a:srgbClr val="000000"/>
                </a:solidFill>
                <a:effectLst/>
                <a:latin typeface="Arial" panose="020B0604020202020204" pitchFamily="34" charset="0"/>
              </a:rPr>
              <a:t> or </a:t>
            </a:r>
            <a:r>
              <a:rPr lang="en-US" sz="1800" b="1" i="0" u="none" strike="noStrike" dirty="0">
                <a:solidFill>
                  <a:srgbClr val="000000"/>
                </a:solidFill>
                <a:effectLst/>
                <a:latin typeface="Arial" panose="020B0604020202020204" pitchFamily="34" charset="0"/>
              </a:rPr>
              <a:t>random effects</a:t>
            </a:r>
            <a:r>
              <a:rPr lang="en-US" sz="1800" b="0" i="0" u="none" strike="noStrike" dirty="0">
                <a:solidFill>
                  <a:srgbClr val="000000"/>
                </a:solidFill>
                <a:effectLst/>
                <a:latin typeface="Arial" panose="020B0604020202020204" pitchFamily="34" charset="0"/>
              </a:rPr>
              <a:t>.</a:t>
            </a:r>
            <a:endParaRPr lang="en-US" b="0" dirty="0">
              <a:effectLst/>
            </a:endParaRPr>
          </a:p>
          <a:p>
            <a:r>
              <a:rPr lang="en-US" sz="1800" b="1" i="0" u="none" strike="noStrike" dirty="0">
                <a:solidFill>
                  <a:srgbClr val="000000"/>
                </a:solidFill>
                <a:effectLst/>
                <a:latin typeface="Arial" panose="020B0604020202020204" pitchFamily="34" charset="0"/>
              </a:rPr>
              <a:t>Final Accuracy Drop:</a:t>
            </a:r>
            <a:r>
              <a:rPr lang="en-US" sz="1800" b="0" i="0" u="none" strike="noStrike" dirty="0">
                <a:solidFill>
                  <a:srgbClr val="000000"/>
                </a:solidFill>
                <a:effectLst/>
                <a:latin typeface="Arial" panose="020B0604020202020204" pitchFamily="34" charset="0"/>
              </a:rPr>
              <a:t> Task 1 accuracy </a:t>
            </a:r>
            <a:r>
              <a:rPr lang="en-US" sz="1800" b="1" i="0" u="none" strike="noStrike" dirty="0">
                <a:solidFill>
                  <a:srgbClr val="000000"/>
                </a:solidFill>
                <a:effectLst/>
                <a:latin typeface="Arial" panose="020B0604020202020204" pitchFamily="34" charset="0"/>
              </a:rPr>
              <a:t>fell from 99.9% to 41.3%</a:t>
            </a:r>
            <a:r>
              <a:rPr lang="en-US" sz="1800" b="0" i="0" u="none" strike="noStrike" dirty="0">
                <a:solidFill>
                  <a:srgbClr val="000000"/>
                </a:solidFill>
                <a:effectLst/>
                <a:latin typeface="Arial" panose="020B0604020202020204" pitchFamily="34" charset="0"/>
              </a:rPr>
              <a:t>, demonstrating severe forgetting in Vanilla SGD.</a:t>
            </a:r>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17</a:t>
            </a:fld>
            <a:endParaRPr lang="en-IN"/>
          </a:p>
        </p:txBody>
      </p:sp>
    </p:spTree>
    <p:extLst>
      <p:ext uri="{BB962C8B-B14F-4D97-AF65-F5344CB8AC3E}">
        <p14:creationId xmlns:p14="http://schemas.microsoft.com/office/powerpoint/2010/main" val="5979374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Future Enhancement</a:t>
            </a:r>
            <a:endParaRPr lang="en-IN" b="1" dirty="0">
              <a:latin typeface="Arial Narrow" panose="020B0606020202030204" pitchFamily="34" charset="0"/>
            </a:endParaRPr>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18</a:t>
            </a:fld>
            <a:endParaRPr lang="en-IN"/>
          </a:p>
        </p:txBody>
      </p:sp>
      <p:sp>
        <p:nvSpPr>
          <p:cNvPr id="6" name="Rectangle 1">
            <a:extLst>
              <a:ext uri="{FF2B5EF4-FFF2-40B4-BE49-F238E27FC236}">
                <a16:creationId xmlns:a16="http://schemas.microsoft.com/office/drawing/2014/main" id="{8D3016C8-434B-DC32-F658-E092FA6C8CA7}"/>
              </a:ext>
            </a:extLst>
          </p:cNvPr>
          <p:cNvSpPr>
            <a:spLocks noGrp="1" noChangeArrowheads="1"/>
          </p:cNvSpPr>
          <p:nvPr>
            <p:ph idx="1"/>
          </p:nvPr>
        </p:nvSpPr>
        <p:spPr bwMode="auto">
          <a:xfrm>
            <a:off x="478693" y="1506895"/>
            <a:ext cx="10611338" cy="49859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Regularization-Based Methods (EWC, SI):</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Modify </a:t>
            </a:r>
            <a:r>
              <a:rPr kumimoji="0" lang="en-US" altLang="en-US" sz="1800" b="1" i="0" u="none" strike="noStrike" cap="none" normalizeH="0" baseline="0" dirty="0">
                <a:ln>
                  <a:noFill/>
                </a:ln>
                <a:solidFill>
                  <a:schemeClr val="tx1"/>
                </a:solidFill>
                <a:effectLst/>
                <a:latin typeface="Arial" panose="020B0604020202020204" pitchFamily="34" charset="0"/>
              </a:rPr>
              <a:t>loss function</a:t>
            </a:r>
            <a:r>
              <a:rPr kumimoji="0" lang="en-US" altLang="en-US" sz="1800" b="0" i="0" u="none" strike="noStrike" cap="none" normalizeH="0" baseline="0" dirty="0">
                <a:ln>
                  <a:noFill/>
                </a:ln>
                <a:solidFill>
                  <a:schemeClr val="tx1"/>
                </a:solidFill>
                <a:effectLst/>
                <a:latin typeface="Arial" panose="020B0604020202020204" pitchFamily="34" charset="0"/>
              </a:rPr>
              <a:t> to penalize drastic weight changes. </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Implement </a:t>
            </a:r>
            <a:r>
              <a:rPr kumimoji="0" lang="en-US" altLang="en-US" sz="1800" b="1" i="0" u="none" strike="noStrike" cap="none" normalizeH="0" baseline="0" dirty="0">
                <a:ln>
                  <a:noFill/>
                </a:ln>
                <a:solidFill>
                  <a:schemeClr val="tx1"/>
                </a:solidFill>
                <a:effectLst/>
                <a:latin typeface="Arial" panose="020B0604020202020204" pitchFamily="34" charset="0"/>
              </a:rPr>
              <a:t>Elastic Weight Consolidation (EWC)</a:t>
            </a:r>
            <a:r>
              <a:rPr kumimoji="0" lang="en-US" altLang="en-US" sz="1800" b="0" i="0" u="none" strike="noStrike" cap="none" normalizeH="0" baseline="0" dirty="0">
                <a:ln>
                  <a:noFill/>
                </a:ln>
                <a:solidFill>
                  <a:schemeClr val="tx1"/>
                </a:solidFill>
                <a:effectLst/>
                <a:latin typeface="Arial" panose="020B0604020202020204" pitchFamily="34" charset="0"/>
              </a:rPr>
              <a:t> by storing </a:t>
            </a:r>
            <a:r>
              <a:rPr kumimoji="0" lang="en-US" altLang="en-US" sz="1800" b="1" i="0" u="none" strike="noStrike" cap="none" normalizeH="0" baseline="0" dirty="0">
                <a:ln>
                  <a:noFill/>
                </a:ln>
                <a:solidFill>
                  <a:schemeClr val="tx1"/>
                </a:solidFill>
                <a:effectLst/>
                <a:latin typeface="Arial" panose="020B0604020202020204" pitchFamily="34" charset="0"/>
              </a:rPr>
              <a:t>Fisher Information</a:t>
            </a:r>
            <a:r>
              <a:rPr kumimoji="0" lang="en-US" altLang="en-US" sz="1800" b="0" i="0" u="none" strike="noStrike" cap="none" normalizeH="0" baseline="0" dirty="0">
                <a:ln>
                  <a:noFill/>
                </a:ln>
                <a:solidFill>
                  <a:schemeClr val="tx1"/>
                </a:solidFill>
                <a:effectLst/>
                <a:latin typeface="Arial" panose="020B0604020202020204" pitchFamily="34" charset="0"/>
              </a:rPr>
              <a:t> to protect crucial weights. </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Implement </a:t>
            </a:r>
            <a:r>
              <a:rPr kumimoji="0" lang="en-US" altLang="en-US" sz="1800" b="1" i="0" u="none" strike="noStrike" cap="none" normalizeH="0" baseline="0" dirty="0">
                <a:ln>
                  <a:noFill/>
                </a:ln>
                <a:solidFill>
                  <a:schemeClr val="tx1"/>
                </a:solidFill>
                <a:effectLst/>
                <a:latin typeface="Arial" panose="020B0604020202020204" pitchFamily="34" charset="0"/>
              </a:rPr>
              <a:t>Synaptic Intelligence (SI)</a:t>
            </a:r>
            <a:r>
              <a:rPr kumimoji="0" lang="en-US" altLang="en-US" sz="1800" b="0" i="0" u="none" strike="noStrike" cap="none" normalizeH="0" baseline="0" dirty="0">
                <a:ln>
                  <a:noFill/>
                </a:ln>
                <a:solidFill>
                  <a:schemeClr val="tx1"/>
                </a:solidFill>
                <a:effectLst/>
                <a:latin typeface="Arial" panose="020B0604020202020204" pitchFamily="34" charset="0"/>
              </a:rPr>
              <a:t> to track weight importance over time.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Replay-Based Method (Experience Replay):</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Store a </a:t>
            </a:r>
            <a:r>
              <a:rPr kumimoji="0" lang="en-US" altLang="en-US" sz="1800" b="1" i="0" u="none" strike="noStrike" cap="none" normalizeH="0" baseline="0" dirty="0">
                <a:ln>
                  <a:noFill/>
                </a:ln>
                <a:solidFill>
                  <a:schemeClr val="tx1"/>
                </a:solidFill>
                <a:effectLst/>
                <a:latin typeface="Arial" panose="020B0604020202020204" pitchFamily="34" charset="0"/>
              </a:rPr>
              <a:t>buffer of past task samples</a:t>
            </a:r>
            <a:r>
              <a:rPr kumimoji="0" lang="en-US" altLang="en-US" sz="1800" b="0" i="0" u="none" strike="noStrike" cap="none" normalizeH="0" baseline="0" dirty="0">
                <a:ln>
                  <a:noFill/>
                </a:ln>
                <a:solidFill>
                  <a:schemeClr val="tx1"/>
                </a:solidFill>
                <a:effectLst/>
                <a:latin typeface="Arial" panose="020B0604020202020204" pitchFamily="34" charset="0"/>
              </a:rPr>
              <a:t> and mix them with new task data. </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Modify </a:t>
            </a:r>
            <a:r>
              <a:rPr kumimoji="0" lang="en-US" altLang="en-US" sz="1800" b="1" i="0" u="none" strike="noStrike" cap="none" normalizeH="0" baseline="0" dirty="0">
                <a:ln>
                  <a:noFill/>
                </a:ln>
                <a:solidFill>
                  <a:schemeClr val="tx1"/>
                </a:solidFill>
                <a:effectLst/>
                <a:latin typeface="Arial" panose="020B0604020202020204" pitchFamily="34" charset="0"/>
              </a:rPr>
              <a:t>data loading</a:t>
            </a:r>
            <a:r>
              <a:rPr kumimoji="0" lang="en-US" altLang="en-US" sz="1800" b="0" i="0" u="none" strike="noStrike" cap="none" normalizeH="0" baseline="0" dirty="0">
                <a:ln>
                  <a:noFill/>
                </a:ln>
                <a:solidFill>
                  <a:schemeClr val="tx1"/>
                </a:solidFill>
                <a:effectLst/>
                <a:latin typeface="Arial" panose="020B0604020202020204" pitchFamily="34" charset="0"/>
              </a:rPr>
              <a:t> to sample from both </a:t>
            </a:r>
            <a:r>
              <a:rPr kumimoji="0" lang="en-US" altLang="en-US" sz="1800" b="1" i="0" u="none" strike="noStrike" cap="none" normalizeH="0" baseline="0" dirty="0">
                <a:ln>
                  <a:noFill/>
                </a:ln>
                <a:solidFill>
                  <a:schemeClr val="tx1"/>
                </a:solidFill>
                <a:effectLst/>
                <a:latin typeface="Arial" panose="020B0604020202020204" pitchFamily="34" charset="0"/>
              </a:rPr>
              <a:t>new and stored old data</a:t>
            </a:r>
            <a:r>
              <a:rPr kumimoji="0" lang="en-US" altLang="en-US" sz="1800" b="0" i="0" u="none" strike="noStrike" cap="none" normalizeH="0" baseline="0" dirty="0">
                <a:ln>
                  <a:noFill/>
                </a:ln>
                <a:solidFill>
                  <a:schemeClr val="tx1"/>
                </a:solidFill>
                <a:effectLst/>
                <a:latin typeface="Arial" panose="020B0604020202020204" pitchFamily="34" charset="0"/>
              </a:rPr>
              <a:t> to reinforce past knowledge.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Architectural Method (</a:t>
            </a:r>
            <a:r>
              <a:rPr kumimoji="0" lang="en-US" altLang="en-US" sz="2400" b="1" i="0" u="none" strike="noStrike" cap="none" normalizeH="0" baseline="0" dirty="0" err="1">
                <a:ln>
                  <a:noFill/>
                </a:ln>
                <a:solidFill>
                  <a:schemeClr val="tx1"/>
                </a:solidFill>
                <a:effectLst/>
                <a:latin typeface="Arial" panose="020B0604020202020204" pitchFamily="34" charset="0"/>
              </a:rPr>
              <a:t>PackNet</a:t>
            </a:r>
            <a:r>
              <a:rPr kumimoji="0" lang="en-US" altLang="en-US" sz="2400" b="1" i="0" u="none" strike="noStrike" cap="none" normalizeH="0" baseline="0" dirty="0">
                <a:ln>
                  <a:noFill/>
                </a:ln>
                <a:solidFill>
                  <a:schemeClr val="tx1"/>
                </a:solidFill>
                <a:effectLst/>
                <a:latin typeface="Arial" panose="020B0604020202020204" pitchFamily="34" charset="0"/>
              </a:rPr>
              <a:t> - Progressive Neural Networks):</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800" b="1" i="0" u="none" strike="noStrike" cap="none" normalizeH="0" baseline="0" dirty="0">
                <a:ln>
                  <a:noFill/>
                </a:ln>
                <a:solidFill>
                  <a:schemeClr val="tx1"/>
                </a:solidFill>
                <a:effectLst/>
                <a:latin typeface="Arial" panose="020B0604020202020204" pitchFamily="34" charset="0"/>
              </a:rPr>
              <a:t>Train &amp; prune</a:t>
            </a:r>
            <a:r>
              <a:rPr kumimoji="0" lang="en-US" altLang="en-US" sz="1800" b="0" i="0" u="none" strike="noStrike" cap="none" normalizeH="0" baseline="0" dirty="0">
                <a:ln>
                  <a:noFill/>
                </a:ln>
                <a:solidFill>
                  <a:schemeClr val="tx1"/>
                </a:solidFill>
                <a:effectLst/>
                <a:latin typeface="Arial" panose="020B0604020202020204" pitchFamily="34" charset="0"/>
              </a:rPr>
              <a:t> weights after each task, freezing important weights to prevent interference. </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Allocate </a:t>
            </a:r>
            <a:r>
              <a:rPr kumimoji="0" lang="en-US" altLang="en-US" sz="1800" b="1" i="0" u="none" strike="noStrike" cap="none" normalizeH="0" baseline="0" dirty="0">
                <a:ln>
                  <a:noFill/>
                </a:ln>
                <a:solidFill>
                  <a:schemeClr val="tx1"/>
                </a:solidFill>
                <a:effectLst/>
                <a:latin typeface="Arial" panose="020B0604020202020204" pitchFamily="34" charset="0"/>
              </a:rPr>
              <a:t>new weights for new tasks</a:t>
            </a:r>
            <a:r>
              <a:rPr kumimoji="0" lang="en-US" altLang="en-US" sz="1800" b="0" i="0" u="none" strike="noStrike" cap="none" normalizeH="0" baseline="0" dirty="0">
                <a:ln>
                  <a:noFill/>
                </a:ln>
                <a:solidFill>
                  <a:schemeClr val="tx1"/>
                </a:solidFill>
                <a:effectLst/>
                <a:latin typeface="Arial" panose="020B0604020202020204" pitchFamily="34" charset="0"/>
              </a:rPr>
              <a:t> while keeping earlier knowledge intact. </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Modify </a:t>
            </a:r>
            <a:r>
              <a:rPr kumimoji="0" lang="en-US" altLang="en-US" sz="1800" b="1" i="0" u="none" strike="noStrike" cap="none" normalizeH="0" baseline="0" dirty="0">
                <a:ln>
                  <a:noFill/>
                </a:ln>
                <a:solidFill>
                  <a:schemeClr val="tx1"/>
                </a:solidFill>
                <a:effectLst/>
                <a:latin typeface="Arial" panose="020B0604020202020204" pitchFamily="34" charset="0"/>
              </a:rPr>
              <a:t>training pipeline</a:t>
            </a:r>
            <a:r>
              <a:rPr kumimoji="0" lang="en-US" altLang="en-US" sz="1800" b="0" i="0" u="none" strike="noStrike" cap="none" normalizeH="0" baseline="0" dirty="0">
                <a:ln>
                  <a:noFill/>
                </a:ln>
                <a:solidFill>
                  <a:schemeClr val="tx1"/>
                </a:solidFill>
                <a:effectLst/>
                <a:latin typeface="Arial" panose="020B0604020202020204" pitchFamily="34" charset="0"/>
              </a:rPr>
              <a:t> to progressively "pack" multiple tasks into the same network.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Arial" panose="020B0604020202020204" pitchFamily="34" charset="0"/>
              </a:rPr>
              <a:t>Evaluation &amp; Comparison:</a:t>
            </a:r>
            <a:endParaRPr kumimoji="0" lang="en-US" altLang="en-US" sz="2400" b="0" i="0" u="none" strike="noStrike" cap="none" normalizeH="0" baseline="0" dirty="0">
              <a:ln>
                <a:noFill/>
              </a:ln>
              <a:solidFill>
                <a:schemeClr val="tx1"/>
              </a:solidFill>
              <a:effectLst/>
              <a:latin typeface="Arial" panose="020B0604020202020204" pitchFamily="34" charset="0"/>
            </a:endParaRP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Apply </a:t>
            </a:r>
            <a:r>
              <a:rPr kumimoji="0" lang="en-US" altLang="en-US" sz="1800" b="1" i="0" u="none" strike="noStrike" cap="none" normalizeH="0" baseline="0" dirty="0">
                <a:ln>
                  <a:noFill/>
                </a:ln>
                <a:solidFill>
                  <a:schemeClr val="tx1"/>
                </a:solidFill>
                <a:effectLst/>
                <a:latin typeface="Arial" panose="020B0604020202020204" pitchFamily="34" charset="0"/>
              </a:rPr>
              <a:t>all three methods</a:t>
            </a:r>
            <a:r>
              <a:rPr kumimoji="0" lang="en-US" altLang="en-US" sz="1800" b="0" i="0" u="none" strike="noStrike" cap="none" normalizeH="0" baseline="0" dirty="0">
                <a:ln>
                  <a:noFill/>
                </a:ln>
                <a:solidFill>
                  <a:schemeClr val="tx1"/>
                </a:solidFill>
                <a:effectLst/>
                <a:latin typeface="Arial" panose="020B0604020202020204" pitchFamily="34" charset="0"/>
              </a:rPr>
              <a:t> using the existing training framework. </a:t>
            </a:r>
          </a:p>
          <a:p>
            <a:pPr marL="457200" lvl="1" indent="0" eaLnBrk="0" fontAlgn="base" hangingPunct="0">
              <a:lnSpc>
                <a:spcPct val="100000"/>
              </a:lnSpc>
              <a:spcBef>
                <a:spcPct val="0"/>
              </a:spcBef>
              <a:spcAft>
                <a:spcPct val="0"/>
              </a:spcAft>
              <a:buFontTx/>
              <a:buChar char="•"/>
            </a:pPr>
            <a:r>
              <a:rPr kumimoji="0" lang="en-US" altLang="en-US" sz="1800" b="0" i="0" u="none" strike="noStrike" cap="none" normalizeH="0" baseline="0" dirty="0">
                <a:ln>
                  <a:noFill/>
                </a:ln>
                <a:solidFill>
                  <a:schemeClr val="tx1"/>
                </a:solidFill>
                <a:effectLst/>
                <a:latin typeface="Arial" panose="020B0604020202020204" pitchFamily="34" charset="0"/>
              </a:rPr>
              <a:t>Compare </a:t>
            </a:r>
            <a:r>
              <a:rPr kumimoji="0" lang="en-US" altLang="en-US" sz="1800" b="1" i="0" u="none" strike="noStrike" cap="none" normalizeH="0" baseline="0" dirty="0">
                <a:ln>
                  <a:noFill/>
                </a:ln>
                <a:solidFill>
                  <a:schemeClr val="tx1"/>
                </a:solidFill>
                <a:effectLst/>
                <a:latin typeface="Arial" panose="020B0604020202020204" pitchFamily="34" charset="0"/>
              </a:rPr>
              <a:t>forgetting rates, accuracy retention, and computational efficiency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105269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Arial Narrow" panose="020B0606020202030204" pitchFamily="34" charset="0"/>
              </a:rPr>
              <a:t>References : APA format</a:t>
            </a:r>
            <a:endParaRPr lang="en-IN" b="1" dirty="0">
              <a:latin typeface="Arial Narrow" panose="020B0606020202030204" pitchFamily="34" charset="0"/>
            </a:endParaRPr>
          </a:p>
        </p:txBody>
      </p:sp>
      <p:sp>
        <p:nvSpPr>
          <p:cNvPr id="3" name="Content Placeholder 2"/>
          <p:cNvSpPr>
            <a:spLocks noGrp="1"/>
          </p:cNvSpPr>
          <p:nvPr>
            <p:ph idx="1"/>
          </p:nvPr>
        </p:nvSpPr>
        <p:spPr/>
        <p:txBody>
          <a:bodyPr>
            <a:normAutofit fontScale="62500" lnSpcReduction="20000"/>
          </a:bodyPr>
          <a:lstStyle/>
          <a:p>
            <a:r>
              <a:rPr lang="en-US" sz="2000" b="1" dirty="0">
                <a:latin typeface="Arial Narrow" panose="020B0606020202030204" pitchFamily="34" charset="0"/>
              </a:rPr>
              <a:t>Base Paper:</a:t>
            </a:r>
            <a:endParaRPr lang="en-IN" sz="2000" b="1" dirty="0">
              <a:latin typeface="Arial Narrow" panose="020B0606020202030204" pitchFamily="34" charset="0"/>
            </a:endParaRPr>
          </a:p>
          <a:p>
            <a:pPr lvl="1"/>
            <a:r>
              <a:rPr lang="en-IN" sz="2200" b="0" i="0" u="none" strike="noStrike" dirty="0">
                <a:solidFill>
                  <a:srgbClr val="000000"/>
                </a:solidFill>
                <a:effectLst/>
              </a:rPr>
              <a:t>Van de Ven, G. M., &amp; Tolias, A. S. (2019). </a:t>
            </a:r>
            <a:r>
              <a:rPr lang="en-IN" sz="2200" b="0" i="1" u="none" strike="noStrike" dirty="0">
                <a:solidFill>
                  <a:srgbClr val="000000"/>
                </a:solidFill>
                <a:effectLst/>
              </a:rPr>
              <a:t>Three scenarios for continual learning</a:t>
            </a:r>
            <a:r>
              <a:rPr lang="en-IN" sz="2200" b="0" i="0" u="none" strike="noStrike" dirty="0">
                <a:solidFill>
                  <a:srgbClr val="000000"/>
                </a:solidFill>
                <a:effectLst/>
              </a:rPr>
              <a:t>. </a:t>
            </a:r>
            <a:r>
              <a:rPr lang="en-IN" sz="2200" b="0" i="0" u="none" strike="noStrike" dirty="0" err="1">
                <a:solidFill>
                  <a:srgbClr val="000000"/>
                </a:solidFill>
                <a:effectLst/>
              </a:rPr>
              <a:t>arXiv</a:t>
            </a:r>
            <a:r>
              <a:rPr lang="en-IN" sz="2200" b="0" i="0" u="none" strike="noStrike" dirty="0">
                <a:solidFill>
                  <a:srgbClr val="000000"/>
                </a:solidFill>
                <a:effectLst/>
              </a:rPr>
              <a:t> preprint arXiv:1904.07734.</a:t>
            </a:r>
            <a:r>
              <a:rPr lang="en-IN" sz="2200" dirty="0"/>
              <a:t> </a:t>
            </a:r>
            <a:r>
              <a:rPr lang="en-IN" sz="2200" dirty="0">
                <a:hlinkClick r:id="rId2"/>
              </a:rPr>
              <a:t>https://doi.org/10.48550/arXiv.1904.07734</a:t>
            </a:r>
            <a:endParaRPr lang="en-IN" sz="2200" dirty="0"/>
          </a:p>
          <a:p>
            <a:pPr lvl="1"/>
            <a:r>
              <a:rPr lang="en-IN" sz="2200" b="0" dirty="0">
                <a:effectLst/>
                <a:hlinkClick r:id="rId3"/>
              </a:rPr>
              <a:t>Link to Paper</a:t>
            </a:r>
            <a:endParaRPr lang="en-IN" sz="2000" b="0" dirty="0">
              <a:effectLst/>
            </a:endParaRPr>
          </a:p>
          <a:p>
            <a:r>
              <a:rPr lang="en-IN" sz="2000" b="1" dirty="0">
                <a:latin typeface="Arial Narrow" panose="020B0606020202030204" pitchFamily="34" charset="0"/>
              </a:rPr>
              <a:t>Paper I:</a:t>
            </a:r>
          </a:p>
          <a:p>
            <a:pPr lvl="1"/>
            <a:r>
              <a:rPr lang="en-US" sz="2300" b="0" i="0" u="none" strike="noStrike" dirty="0">
                <a:solidFill>
                  <a:srgbClr val="000000"/>
                </a:solidFill>
                <a:effectLst/>
              </a:rPr>
              <a:t>Wang, L., Zhang, X., Su, H., &amp; Zhu, J. (2024). A comprehensive survey of continual learning: Theory, method and application.</a:t>
            </a:r>
            <a:r>
              <a:rPr lang="en-US" sz="2300" dirty="0"/>
              <a:t> </a:t>
            </a:r>
            <a:r>
              <a:rPr lang="en-US" sz="2300" b="0" i="1" u="none" strike="noStrike" dirty="0">
                <a:solidFill>
                  <a:srgbClr val="000000"/>
                </a:solidFill>
                <a:effectLst/>
              </a:rPr>
              <a:t>IEEE Transactions on Pattern Analysis and Machine Intelligence</a:t>
            </a:r>
            <a:r>
              <a:rPr lang="en-US" sz="2300" b="0" i="0" u="none" strike="noStrike" dirty="0">
                <a:solidFill>
                  <a:srgbClr val="000000"/>
                </a:solidFill>
                <a:effectLst/>
              </a:rPr>
              <a:t>, </a:t>
            </a:r>
            <a:r>
              <a:rPr lang="en-US" sz="2300" b="0" i="1" u="none" strike="noStrike" dirty="0">
                <a:solidFill>
                  <a:srgbClr val="000000"/>
                </a:solidFill>
                <a:effectLst/>
              </a:rPr>
              <a:t>46</a:t>
            </a:r>
            <a:r>
              <a:rPr lang="en-US" sz="2300" b="0" i="0" u="none" strike="noStrike" dirty="0">
                <a:solidFill>
                  <a:srgbClr val="000000"/>
                </a:solidFill>
                <a:effectLst/>
              </a:rPr>
              <a:t>(8), 5362-5383.</a:t>
            </a:r>
            <a:r>
              <a:rPr lang="en-US" sz="2300" b="0" i="0" u="none" strike="noStrike" dirty="0">
                <a:solidFill>
                  <a:srgbClr val="000000"/>
                </a:solidFill>
                <a:effectLst/>
                <a:hlinkClick r:id="rId4"/>
              </a:rPr>
              <a:t> </a:t>
            </a:r>
            <a:r>
              <a:rPr lang="en-US" sz="2300" b="0" i="0" u="sng" strike="noStrike" dirty="0">
                <a:solidFill>
                  <a:srgbClr val="1155CC"/>
                </a:solidFill>
                <a:effectLst/>
                <a:hlinkClick r:id="rId5"/>
              </a:rPr>
              <a:t>https://doi.org/10.1109/TPAMI.2024.3367329</a:t>
            </a:r>
            <a:endParaRPr lang="en-US" sz="2300" b="0" i="0" u="sng" strike="noStrike" dirty="0">
              <a:solidFill>
                <a:srgbClr val="1155CC"/>
              </a:solidFill>
              <a:effectLst/>
            </a:endParaRPr>
          </a:p>
          <a:p>
            <a:pPr lvl="1"/>
            <a:r>
              <a:rPr lang="en-US" sz="2300" dirty="0">
                <a:hlinkClick r:id="rId6"/>
              </a:rPr>
              <a:t>Link to Paper</a:t>
            </a:r>
            <a:endParaRPr lang="en-US" sz="2300" dirty="0"/>
          </a:p>
          <a:p>
            <a:r>
              <a:rPr lang="en-IN" sz="2000" b="1" dirty="0">
                <a:latin typeface="Arial Narrow" panose="020B0606020202030204" pitchFamily="34" charset="0"/>
              </a:rPr>
              <a:t>Paper II:</a:t>
            </a:r>
          </a:p>
          <a:p>
            <a:pPr lvl="1"/>
            <a:r>
              <a:rPr lang="en-IN" sz="2300" b="0" i="0" u="none" strike="noStrike" dirty="0">
                <a:solidFill>
                  <a:srgbClr val="000000"/>
                </a:solidFill>
                <a:effectLst/>
              </a:rPr>
              <a:t>De Lange, M., </a:t>
            </a:r>
            <a:r>
              <a:rPr lang="en-IN" sz="2300" b="0" i="0" u="none" strike="noStrike" dirty="0" err="1">
                <a:solidFill>
                  <a:srgbClr val="000000"/>
                </a:solidFill>
                <a:effectLst/>
              </a:rPr>
              <a:t>Aljundi</a:t>
            </a:r>
            <a:r>
              <a:rPr lang="en-IN" sz="2300" b="0" i="0" u="none" strike="noStrike" dirty="0">
                <a:solidFill>
                  <a:srgbClr val="000000"/>
                </a:solidFill>
                <a:effectLst/>
              </a:rPr>
              <a:t>, R., Masana, M., Parisot, S., Jia, X., Leonardis, A., Slabaugh, G., &amp; </a:t>
            </a:r>
            <a:r>
              <a:rPr lang="en-IN" sz="2300" b="0" i="0" u="none" strike="noStrike" dirty="0" err="1">
                <a:solidFill>
                  <a:srgbClr val="000000"/>
                </a:solidFill>
                <a:effectLst/>
              </a:rPr>
              <a:t>Tuytelaars</a:t>
            </a:r>
            <a:r>
              <a:rPr lang="en-IN" sz="2300" b="0" i="0" u="none" strike="noStrike" dirty="0">
                <a:solidFill>
                  <a:srgbClr val="000000"/>
                </a:solidFill>
                <a:effectLst/>
              </a:rPr>
              <a:t>, T. (2022). A continual learning survey: Defying forgetting in classification tasks. </a:t>
            </a:r>
            <a:r>
              <a:rPr lang="en-IN" sz="2300" b="0" i="1" u="none" strike="noStrike" dirty="0">
                <a:solidFill>
                  <a:srgbClr val="000000"/>
                </a:solidFill>
                <a:effectLst/>
              </a:rPr>
              <a:t>IEEE Transactions on Pattern Analysis and Machine Intelligence</a:t>
            </a:r>
            <a:r>
              <a:rPr lang="en-IN" sz="2300" b="0" i="0" u="none" strike="noStrike" dirty="0">
                <a:solidFill>
                  <a:srgbClr val="000000"/>
                </a:solidFill>
                <a:effectLst/>
              </a:rPr>
              <a:t>, </a:t>
            </a:r>
            <a:r>
              <a:rPr lang="en-IN" sz="2300" b="0" i="1" u="none" strike="noStrike" dirty="0">
                <a:solidFill>
                  <a:srgbClr val="000000"/>
                </a:solidFill>
                <a:effectLst/>
              </a:rPr>
              <a:t>44</a:t>
            </a:r>
            <a:r>
              <a:rPr lang="en-IN" sz="2300" b="0" i="0" u="none" strike="noStrike" dirty="0">
                <a:solidFill>
                  <a:srgbClr val="000000"/>
                </a:solidFill>
                <a:effectLst/>
              </a:rPr>
              <a:t>(7), 3366-3385.</a:t>
            </a:r>
            <a:r>
              <a:rPr lang="en-IN" sz="2300" dirty="0">
                <a:solidFill>
                  <a:srgbClr val="000000"/>
                </a:solidFill>
              </a:rPr>
              <a:t> </a:t>
            </a:r>
            <a:r>
              <a:rPr lang="en-IN" sz="2300" b="0" i="0" u="sng" strike="noStrike" dirty="0">
                <a:solidFill>
                  <a:srgbClr val="1155CC"/>
                </a:solidFill>
                <a:effectLst/>
                <a:hlinkClick r:id="rId7"/>
              </a:rPr>
              <a:t>https://doi.org/10.1109/TPAMI.2021.3057446</a:t>
            </a:r>
            <a:endParaRPr lang="en-IN" sz="2300" b="0" i="0" u="sng" strike="noStrike" dirty="0">
              <a:solidFill>
                <a:srgbClr val="1155CC"/>
              </a:solidFill>
              <a:effectLst/>
            </a:endParaRPr>
          </a:p>
          <a:p>
            <a:pPr lvl="1"/>
            <a:r>
              <a:rPr lang="en-IN" sz="2300" b="0" i="0" u="none" strike="noStrike" dirty="0">
                <a:solidFill>
                  <a:srgbClr val="000000"/>
                </a:solidFill>
                <a:effectLst/>
                <a:hlinkClick r:id="rId8"/>
              </a:rPr>
              <a:t>Link to Paper</a:t>
            </a:r>
            <a:endParaRPr lang="en-IN" sz="2300" b="0" i="0" u="sng" strike="noStrike" dirty="0">
              <a:solidFill>
                <a:srgbClr val="1155CC"/>
              </a:solidFill>
              <a:effectLst/>
            </a:endParaRPr>
          </a:p>
          <a:p>
            <a:r>
              <a:rPr lang="en-IN" sz="2000" b="1" dirty="0">
                <a:latin typeface="Arial Narrow" panose="020B0606020202030204" pitchFamily="34" charset="0"/>
              </a:rPr>
              <a:t>Paper III:</a:t>
            </a:r>
          </a:p>
          <a:p>
            <a:pPr lvl="1"/>
            <a:r>
              <a:rPr lang="en-US" sz="2300" b="0" i="0" u="none" strike="noStrike" dirty="0">
                <a:solidFill>
                  <a:srgbClr val="000000"/>
                </a:solidFill>
                <a:effectLst/>
              </a:rPr>
              <a:t>Lee, C. S., &amp; Lee, A. Y. (2020). Clinical applications of continual learning machine learning. </a:t>
            </a:r>
            <a:r>
              <a:rPr lang="en-US" sz="2300" b="0" i="1" u="none" strike="noStrike" dirty="0">
                <a:solidFill>
                  <a:srgbClr val="000000"/>
                </a:solidFill>
                <a:effectLst/>
              </a:rPr>
              <a:t>The Lancet Digital Health</a:t>
            </a:r>
            <a:r>
              <a:rPr lang="en-US" sz="2300" b="0" i="0" u="none" strike="noStrike" dirty="0">
                <a:solidFill>
                  <a:srgbClr val="000000"/>
                </a:solidFill>
                <a:effectLst/>
              </a:rPr>
              <a:t>, </a:t>
            </a:r>
            <a:r>
              <a:rPr lang="en-US" sz="2300" b="0" i="1" u="none" strike="noStrike" dirty="0">
                <a:solidFill>
                  <a:srgbClr val="000000"/>
                </a:solidFill>
                <a:effectLst/>
              </a:rPr>
              <a:t>2</a:t>
            </a:r>
            <a:r>
              <a:rPr lang="en-US" sz="2300" b="0" i="0" u="none" strike="noStrike" dirty="0">
                <a:solidFill>
                  <a:srgbClr val="000000"/>
                </a:solidFill>
                <a:effectLst/>
              </a:rPr>
              <a:t>(6), e279-e281. </a:t>
            </a:r>
            <a:r>
              <a:rPr lang="en-US" sz="2300" b="0" i="0" u="sng" strike="noStrike" dirty="0">
                <a:solidFill>
                  <a:srgbClr val="1155CC"/>
                </a:solidFill>
                <a:effectLst/>
                <a:hlinkClick r:id="rId9"/>
              </a:rPr>
              <a:t>https://doi.org/10.1016/S2589-7500(20)30102-3</a:t>
            </a:r>
            <a:endParaRPr lang="en-US" sz="2300" b="0" i="0" u="sng" strike="noStrike" dirty="0">
              <a:solidFill>
                <a:srgbClr val="1155CC"/>
              </a:solidFill>
              <a:effectLst/>
            </a:endParaRPr>
          </a:p>
          <a:p>
            <a:pPr lvl="1"/>
            <a:r>
              <a:rPr lang="en-US" sz="2300" b="0" i="0" u="none" strike="noStrike" dirty="0">
                <a:solidFill>
                  <a:srgbClr val="000000"/>
                </a:solidFill>
                <a:effectLst/>
                <a:hlinkClick r:id="rId10"/>
              </a:rPr>
              <a:t>Link to Paper</a:t>
            </a:r>
            <a:endParaRPr lang="en-IN" sz="2300" b="1" dirty="0"/>
          </a:p>
          <a:p>
            <a:r>
              <a:rPr lang="en-IN" sz="2000" b="1" dirty="0">
                <a:latin typeface="Arial Narrow" panose="020B0606020202030204" pitchFamily="34" charset="0"/>
              </a:rPr>
              <a:t>Paper IV:</a:t>
            </a:r>
          </a:p>
          <a:p>
            <a:pPr lvl="1"/>
            <a:r>
              <a:rPr lang="en-IN" sz="2200" b="0" i="0" u="none" strike="noStrike" dirty="0">
                <a:solidFill>
                  <a:srgbClr val="000000"/>
                </a:solidFill>
                <a:effectLst/>
              </a:rPr>
              <a:t>Chen, P. H., Wei, W., Hsieh, C.-j., &amp; Dai, B. (2021). Overcoming catastrophic forgetting by generative regularization. </a:t>
            </a:r>
            <a:r>
              <a:rPr lang="en-IN" sz="2200" b="0" i="0" u="none" strike="noStrike" dirty="0" err="1">
                <a:solidFill>
                  <a:srgbClr val="000000"/>
                </a:solidFill>
                <a:effectLst/>
              </a:rPr>
              <a:t>arXiv</a:t>
            </a:r>
            <a:r>
              <a:rPr lang="en-IN" sz="2200" b="0" i="0" u="none" strike="noStrike" dirty="0">
                <a:solidFill>
                  <a:srgbClr val="000000"/>
                </a:solidFill>
                <a:effectLst/>
              </a:rPr>
              <a:t> preprint arXiv:1912.01238.</a:t>
            </a:r>
            <a:r>
              <a:rPr lang="en-IN" sz="2200" dirty="0"/>
              <a:t> </a:t>
            </a:r>
            <a:r>
              <a:rPr lang="en-IN" sz="2200" b="0" i="0" u="sng" strike="noStrike" dirty="0">
                <a:solidFill>
                  <a:srgbClr val="1155CC"/>
                </a:solidFill>
                <a:effectLst/>
                <a:hlinkClick r:id="rId11"/>
              </a:rPr>
              <a:t>https://doi.org/10.48550/arXiv.1912.01238</a:t>
            </a:r>
            <a:endParaRPr lang="en-IN" sz="2200" b="0" i="0" u="sng" strike="noStrike" dirty="0">
              <a:solidFill>
                <a:srgbClr val="1155CC"/>
              </a:solidFill>
              <a:effectLst/>
            </a:endParaRPr>
          </a:p>
          <a:p>
            <a:pPr lvl="1"/>
            <a:r>
              <a:rPr lang="en-IN" sz="2200" dirty="0">
                <a:solidFill>
                  <a:srgbClr val="000000"/>
                </a:solidFill>
                <a:hlinkClick r:id="rId12"/>
              </a:rPr>
              <a:t>L</a:t>
            </a:r>
            <a:r>
              <a:rPr lang="en-IN" sz="2200" b="0" i="0" u="none" strike="noStrike" dirty="0">
                <a:solidFill>
                  <a:srgbClr val="000000"/>
                </a:solidFill>
                <a:effectLst/>
                <a:hlinkClick r:id="rId12"/>
              </a:rPr>
              <a:t>ink to Paper</a:t>
            </a:r>
            <a:endParaRPr lang="en-IN" sz="2200" b="0" dirty="0">
              <a:effectLst/>
            </a:endParaRPr>
          </a:p>
          <a:p>
            <a:endParaRPr lang="en-IN" dirty="0"/>
          </a:p>
        </p:txBody>
      </p:sp>
      <p:sp>
        <p:nvSpPr>
          <p:cNvPr id="4" name="Footer Placeholder 3"/>
          <p:cNvSpPr>
            <a:spLocks noGrp="1"/>
          </p:cNvSpPr>
          <p:nvPr>
            <p:ph type="ftr" sz="quarter" idx="11"/>
          </p:nvPr>
        </p:nvSpPr>
        <p:spPr/>
        <p:txBody>
          <a:bodyPr/>
          <a:lstStyle/>
          <a:p>
            <a:r>
              <a:rPr lang="en-IN"/>
              <a:t>CS6501 Project I PGP, ICER, VIT Bangalore</a:t>
            </a:r>
          </a:p>
        </p:txBody>
      </p:sp>
      <p:sp>
        <p:nvSpPr>
          <p:cNvPr id="5" name="Slide Number Placeholder 4"/>
          <p:cNvSpPr>
            <a:spLocks noGrp="1"/>
          </p:cNvSpPr>
          <p:nvPr>
            <p:ph type="sldNum" sz="quarter" idx="12"/>
          </p:nvPr>
        </p:nvSpPr>
        <p:spPr/>
        <p:txBody>
          <a:bodyPr/>
          <a:lstStyle/>
          <a:p>
            <a:fld id="{90EDC104-672A-4227-99C4-0E2CC007FDBA}" type="slidenum">
              <a:rPr lang="en-IN" smtClean="0"/>
              <a:t>19</a:t>
            </a:fld>
            <a:endParaRPr lang="en-IN"/>
          </a:p>
        </p:txBody>
      </p:sp>
    </p:spTree>
    <p:extLst>
      <p:ext uri="{BB962C8B-B14F-4D97-AF65-F5344CB8AC3E}">
        <p14:creationId xmlns:p14="http://schemas.microsoft.com/office/powerpoint/2010/main" val="41440634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4496</TotalTime>
  <Words>1952</Words>
  <Application>Microsoft Office PowerPoint</Application>
  <PresentationFormat>Widescreen</PresentationFormat>
  <Paragraphs>153</Paragraphs>
  <Slides>19</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Arial Narrow</vt:lpstr>
      <vt:lpstr>Calibri</vt:lpstr>
      <vt:lpstr>Calibri Light</vt:lpstr>
      <vt:lpstr>Office Theme</vt:lpstr>
      <vt:lpstr>A Comparative Study of Methods for Mitigating Catastrophic Forgetting in Neural Networks Continual Learning </vt:lpstr>
      <vt:lpstr>Abstract</vt:lpstr>
      <vt:lpstr>Introduction</vt:lpstr>
      <vt:lpstr>Need of study</vt:lpstr>
      <vt:lpstr>Problem Statement</vt:lpstr>
      <vt:lpstr>Objectives</vt:lpstr>
      <vt:lpstr>Related Work</vt:lpstr>
      <vt:lpstr>Proposed Methodology</vt:lpstr>
      <vt:lpstr>Proposed Methodology</vt:lpstr>
      <vt:lpstr>Dataset</vt:lpstr>
      <vt:lpstr>Dataset</vt:lpstr>
      <vt:lpstr>Results and Discussion</vt:lpstr>
      <vt:lpstr>Results and Discussion</vt:lpstr>
      <vt:lpstr>Results and Discussion</vt:lpstr>
      <vt:lpstr>Results and Discussion</vt:lpstr>
      <vt:lpstr>Performance Analysis</vt:lpstr>
      <vt:lpstr>Conclusion</vt:lpstr>
      <vt:lpstr>Future Enhancement</vt:lpstr>
      <vt:lpstr>References : APA format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Domain:</dc:title>
  <dc:creator>Angay</dc:creator>
  <cp:lastModifiedBy>Aniket Shinde</cp:lastModifiedBy>
  <cp:revision>20</cp:revision>
  <dcterms:created xsi:type="dcterms:W3CDTF">2023-11-15T14:09:37Z</dcterms:created>
  <dcterms:modified xsi:type="dcterms:W3CDTF">2025-03-19T09:22:28Z</dcterms:modified>
</cp:coreProperties>
</file>